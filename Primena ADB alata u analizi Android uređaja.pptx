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9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72565" y="480378"/>
            <a:ext cx="9144000" cy="2387600"/>
          </a:xfrm>
        </p:spPr>
        <p:txBody>
          <a:bodyPr/>
          <a:lstStyle/>
          <a:p>
            <a:r>
              <a:rPr lang="sr-Latn-ME" altLang="en-US" b="1" dirty="0"/>
              <a:t>Primena ADB alata u analizi Android uređaja</a:t>
            </a:r>
            <a:endParaRPr lang="sr-Latn-ME" alt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sr-Latn-ME" altLang="en-US" sz="2800" b="1"/>
              <a:t>Željko Vasic 1808</a:t>
            </a:r>
            <a:endParaRPr lang="sr-Latn-ME" altLang="en-US" sz="28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6215"/>
            <a:ext cx="10515600" cy="1325563"/>
          </a:xfrm>
        </p:spPr>
        <p:txBody>
          <a:bodyPr/>
          <a:p>
            <a:r>
              <a:rPr lang="en-US" altLang="en-US" sz="4000"/>
              <a:t>Android Debug Bridge (ADB)</a:t>
            </a:r>
            <a:endParaRPr lang="en-US" alt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2095"/>
            <a:ext cx="10515600" cy="4655185"/>
          </a:xfrm>
        </p:spPr>
        <p:txBody>
          <a:bodyPr/>
          <a:p>
            <a:pPr marL="0" indent="0">
              <a:buNone/>
            </a:pPr>
            <a:r>
              <a:rPr lang="sr-Latn-ME" altLang="en-US"/>
              <a:t>A</a:t>
            </a:r>
            <a:r>
              <a:rPr lang="en-US" altLang="en-US"/>
              <a:t>lat komandne linije koji omogu</a:t>
            </a:r>
            <a:r>
              <a:rPr lang="en-US" altLang="en-US"/>
              <a:t>ć</a:t>
            </a:r>
            <a:r>
              <a:rPr lang="en-US" altLang="en-US"/>
              <a:t>ava komunikaciju izme</a:t>
            </a:r>
            <a:r>
              <a:rPr lang="en-US" altLang="en-US"/>
              <a:t>đ</a:t>
            </a:r>
            <a:r>
              <a:rPr lang="en-US" altLang="en-US"/>
              <a:t>u programera i povezanog Android ure</a:t>
            </a:r>
            <a:r>
              <a:rPr lang="en-US" altLang="en-US"/>
              <a:t>đ</a:t>
            </a:r>
            <a:r>
              <a:rPr lang="en-US" altLang="en-US"/>
              <a:t>aja ili emulatora</a:t>
            </a:r>
            <a:r>
              <a:rPr lang="sr-Latn-ME" altLang="en-US"/>
              <a:t>.</a:t>
            </a:r>
            <a:endParaRPr lang="sr-Latn-ME" altLang="en-US"/>
          </a:p>
          <a:p>
            <a:pPr marL="0" indent="0">
              <a:buNone/>
            </a:pPr>
            <a:r>
              <a:rPr lang="sr-Latn-ME" altLang="en-US"/>
              <a:t>Tri osnovne komponente ADB-a:</a:t>
            </a:r>
            <a:endParaRPr lang="sr-Latn-ME" altLang="en-US"/>
          </a:p>
          <a:p>
            <a:pPr marL="514350" indent="-514350">
              <a:buFont typeface="+mj-lt"/>
              <a:buAutoNum type="arabicPeriod"/>
            </a:pPr>
            <a:r>
              <a:rPr lang="sr-Latn-ME" altLang="en-US"/>
              <a:t>Klijent</a:t>
            </a:r>
            <a:endParaRPr lang="sr-Latn-ME" altLang="en-US"/>
          </a:p>
          <a:p>
            <a:pPr marL="514350" indent="-514350">
              <a:buFont typeface="+mj-lt"/>
              <a:buAutoNum type="arabicPeriod"/>
            </a:pPr>
            <a:r>
              <a:rPr lang="sr-Latn-ME" altLang="en-US"/>
              <a:t>Server</a:t>
            </a:r>
            <a:endParaRPr lang="sr-Latn-ME" altLang="en-US"/>
          </a:p>
          <a:p>
            <a:pPr marL="514350" indent="-514350">
              <a:buFont typeface="+mj-lt"/>
              <a:buAutoNum type="arabicPeriod"/>
            </a:pPr>
            <a:r>
              <a:rPr lang="sr-Latn-ME" altLang="en-US"/>
              <a:t>ADB deamon</a:t>
            </a:r>
            <a:endParaRPr lang="sr-Latn-ME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4555" y="3088005"/>
            <a:ext cx="6834505" cy="28098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6650"/>
          </a:xfrm>
        </p:spPr>
        <p:txBody>
          <a:bodyPr/>
          <a:p>
            <a:r>
              <a:rPr lang="sr-Latn-ME" altLang="en-US" sz="4000"/>
              <a:t>Mogućnosti ADB-a</a:t>
            </a:r>
            <a:endParaRPr lang="sr-Latn-ME" alt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2410"/>
            <a:ext cx="10515600" cy="467487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sr-Latn-ME" altLang="en-US"/>
              <a:t>A</a:t>
            </a:r>
            <a:r>
              <a:rPr lang="en-US" altLang="en-US"/>
              <a:t>DB podr</a:t>
            </a:r>
            <a:r>
              <a:rPr lang="en-US" altLang="en-US"/>
              <a:t>ž</a:t>
            </a:r>
            <a:r>
              <a:rPr lang="en-US" altLang="en-US"/>
              <a:t>ava komuniciranje preko Wi-Fi konekcije i USB konekcije. USB konekcija je </a:t>
            </a:r>
            <a:r>
              <a:rPr lang="en-US" altLang="en-US"/>
              <a:t>č</a:t>
            </a:r>
            <a:r>
              <a:rPr lang="en-US" altLang="en-US"/>
              <a:t>e</a:t>
            </a:r>
            <a:r>
              <a:rPr lang="en-US" altLang="en-US"/>
              <a:t>šć</a:t>
            </a:r>
            <a:r>
              <a:rPr lang="en-US" altLang="en-US"/>
              <a:t>e kori</a:t>
            </a:r>
            <a:r>
              <a:rPr lang="en-US" altLang="en-US"/>
              <a:t>šć</a:t>
            </a:r>
            <a:r>
              <a:rPr lang="en-US" altLang="en-US"/>
              <a:t>en i bezbedniji na</a:t>
            </a:r>
            <a:r>
              <a:rPr lang="en-US" altLang="en-US"/>
              <a:t>č</a:t>
            </a:r>
            <a:r>
              <a:rPr lang="en-US" altLang="en-US"/>
              <a:t>in komunikacije.</a:t>
            </a:r>
            <a:endParaRPr lang="en-US" altLang="en-US"/>
          </a:p>
          <a:p>
            <a:pPr marL="0" indent="0">
              <a:buNone/>
            </a:pPr>
            <a:r>
              <a:rPr lang="en-US" altLang="en-US">
                <a:solidFill>
                  <a:srgbClr val="FF0000"/>
                </a:solidFill>
              </a:rPr>
              <a:t>USB Debugging omogu</a:t>
            </a:r>
            <a:r>
              <a:rPr lang="en-US" altLang="en-US">
                <a:solidFill>
                  <a:srgbClr val="FF0000"/>
                </a:solidFill>
              </a:rPr>
              <a:t>ć</a:t>
            </a:r>
            <a:r>
              <a:rPr lang="en-US" altLang="en-US">
                <a:solidFill>
                  <a:srgbClr val="FF0000"/>
                </a:solidFill>
              </a:rPr>
              <a:t>ava korisnicima:</a:t>
            </a:r>
            <a:endParaRPr lang="en-US" altLang="en-US">
              <a:solidFill>
                <a:srgbClr val="FF0000"/>
              </a:solidFill>
            </a:endParaRPr>
          </a:p>
          <a:p>
            <a:r>
              <a:rPr lang="en-US" altLang="en-US"/>
              <a:t>Pristup unutra</a:t>
            </a:r>
            <a:r>
              <a:rPr lang="en-US" altLang="en-US"/>
              <a:t>š</a:t>
            </a:r>
            <a:r>
              <a:rPr lang="en-US" altLang="en-US"/>
              <a:t>njem stanju aplikacija</a:t>
            </a:r>
            <a:endParaRPr lang="en-US" altLang="en-US"/>
          </a:p>
          <a:p>
            <a:r>
              <a:rPr lang="en-US" altLang="en-US"/>
              <a:t>Instalira i uklanja aplikacije bez provera bezbednosti</a:t>
            </a:r>
            <a:endParaRPr lang="en-US" altLang="en-US"/>
          </a:p>
          <a:p>
            <a:r>
              <a:rPr lang="en-US" altLang="en-US"/>
              <a:t>Pristup logovima sistema</a:t>
            </a:r>
            <a:endParaRPr lang="en-US" altLang="en-US"/>
          </a:p>
          <a:p>
            <a:r>
              <a:rPr lang="en-US" altLang="en-US"/>
              <a:t>Kopira fajlove na ure</a:t>
            </a:r>
            <a:r>
              <a:rPr lang="en-US" altLang="en-US"/>
              <a:t>đ</a:t>
            </a:r>
            <a:r>
              <a:rPr lang="en-US" altLang="en-US"/>
              <a:t>aj</a:t>
            </a:r>
            <a:endParaRPr lang="en-US" altLang="en-US"/>
          </a:p>
          <a:p>
            <a:r>
              <a:rPr lang="en-US" altLang="en-US"/>
              <a:t>Kopira fajlove sa ure</a:t>
            </a:r>
            <a:r>
              <a:rPr lang="en-US" altLang="en-US"/>
              <a:t>đ</a:t>
            </a:r>
            <a:r>
              <a:rPr lang="en-US" altLang="en-US"/>
              <a:t>aja</a:t>
            </a:r>
            <a:endParaRPr lang="en-US" altLang="en-US"/>
          </a:p>
          <a:p>
            <a:r>
              <a:rPr lang="en-US" altLang="en-US"/>
              <a:t>Vr</a:t>
            </a:r>
            <a:r>
              <a:rPr lang="en-US" altLang="en-US"/>
              <a:t>š</a:t>
            </a:r>
            <a:r>
              <a:rPr lang="en-US" altLang="en-US"/>
              <a:t>i analizu performansi ure</a:t>
            </a:r>
            <a:r>
              <a:rPr lang="en-US" altLang="en-US"/>
              <a:t>đ</a:t>
            </a:r>
            <a:r>
              <a:rPr lang="en-US" altLang="en-US"/>
              <a:t>aja</a:t>
            </a:r>
            <a:endParaRPr lang="en-US" altLang="en-US"/>
          </a:p>
          <a:p>
            <a:r>
              <a:rPr lang="en-US" altLang="en-US"/>
              <a:t>Izvr</a:t>
            </a:r>
            <a:r>
              <a:rPr lang="en-US" altLang="en-US"/>
              <a:t>š</a:t>
            </a:r>
            <a:r>
              <a:rPr lang="en-US" altLang="en-US"/>
              <a:t>avanje kriti</a:t>
            </a:r>
            <a:r>
              <a:rPr lang="en-US" altLang="en-US"/>
              <a:t>č</a:t>
            </a:r>
            <a:r>
              <a:rPr lang="en-US" altLang="en-US"/>
              <a:t>nih komandi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81915"/>
            <a:ext cx="10515600" cy="1325563"/>
          </a:xfrm>
        </p:spPr>
        <p:txBody>
          <a:bodyPr/>
          <a:p>
            <a:r>
              <a:rPr lang="en-US" altLang="en-US" sz="4000"/>
              <a:t>Secure USB Debugging</a:t>
            </a:r>
            <a:endParaRPr lang="en-US" alt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1675" y="1129030"/>
            <a:ext cx="10652125" cy="4599305"/>
          </a:xfrm>
        </p:spPr>
        <p:txBody>
          <a:bodyPr>
            <a:noAutofit/>
          </a:bodyPr>
          <a:p>
            <a:r>
              <a:rPr lang="sr-Latn-ME" altLang="en-US" sz="2400"/>
              <a:t>S</a:t>
            </a:r>
            <a:r>
              <a:rPr lang="en-US" altLang="en-US" sz="2400"/>
              <a:t>amo autorizovani ra</a:t>
            </a:r>
            <a:r>
              <a:rPr lang="en-US" altLang="en-US" sz="2400"/>
              <a:t>č</a:t>
            </a:r>
            <a:r>
              <a:rPr lang="en-US" altLang="en-US" sz="2400"/>
              <a:t>unari mogu uspostaviti ADB konekciju sa ure</a:t>
            </a:r>
            <a:r>
              <a:rPr lang="en-US" altLang="en-US" sz="2400"/>
              <a:t>đ</a:t>
            </a:r>
            <a:r>
              <a:rPr lang="en-US" altLang="en-US" sz="2400"/>
              <a:t>ajem</a:t>
            </a:r>
            <a:r>
              <a:rPr lang="sr-Latn-ME" altLang="en-US" sz="2400"/>
              <a:t>.</a:t>
            </a:r>
            <a:endParaRPr lang="sr-Latn-ME" altLang="en-US" sz="2400"/>
          </a:p>
          <a:p>
            <a:r>
              <a:rPr lang="en-US" altLang="en-US" sz="2400"/>
              <a:t>Ako se ure</a:t>
            </a:r>
            <a:r>
              <a:rPr lang="en-US" altLang="en-US" sz="2400"/>
              <a:t>đ</a:t>
            </a:r>
            <a:r>
              <a:rPr lang="en-US" altLang="en-US" sz="2400"/>
              <a:t>aj pomocu USB-a pove</a:t>
            </a:r>
            <a:r>
              <a:rPr lang="en-US" altLang="en-US" sz="2400"/>
              <a:t>ž</a:t>
            </a:r>
            <a:r>
              <a:rPr lang="en-US" altLang="en-US" sz="2400"/>
              <a:t>e sa neautorizovanim ra</a:t>
            </a:r>
            <a:r>
              <a:rPr lang="en-US" altLang="en-US" sz="2400"/>
              <a:t>č</a:t>
            </a:r>
            <a:r>
              <a:rPr lang="en-US" altLang="en-US" sz="2400"/>
              <a:t>unarom, taj ra</a:t>
            </a:r>
            <a:r>
              <a:rPr lang="en-US" altLang="en-US" sz="2400"/>
              <a:t>č</a:t>
            </a:r>
            <a:r>
              <a:rPr lang="en-US" altLang="en-US" sz="2400"/>
              <a:t>unar ne mo</a:t>
            </a:r>
            <a:r>
              <a:rPr lang="en-US" altLang="en-US" sz="2400"/>
              <a:t>ž</a:t>
            </a:r>
            <a:r>
              <a:rPr lang="en-US" altLang="en-US" sz="2400"/>
              <a:t>e videti fajlove</a:t>
            </a:r>
            <a:r>
              <a:rPr lang="sr-Latn-ME" altLang="en-US" sz="2400"/>
              <a:t> na uređaju.</a:t>
            </a:r>
            <a:endParaRPr lang="sr-Latn-ME" altLang="en-US" sz="2400"/>
          </a:p>
          <a:p>
            <a:endParaRPr lang="sr-Latn-ME" altLang="en-US" sz="2400"/>
          </a:p>
          <a:p>
            <a:pPr marL="0" indent="0">
              <a:buNone/>
            </a:pPr>
            <a:endParaRPr lang="sr-Latn-ME" altLang="en-US" sz="2400"/>
          </a:p>
          <a:p>
            <a:endParaRPr lang="sr-Latn-ME" altLang="en-US" sz="2400"/>
          </a:p>
          <a:p>
            <a:endParaRPr lang="sr-Latn-ME" altLang="en-US" sz="2400"/>
          </a:p>
          <a:p>
            <a:r>
              <a:rPr lang="en-US" altLang="en-US" sz="2400"/>
              <a:t>Za implementaciju sigurne autentifikacije procesa u USB Debugging koristi se </a:t>
            </a:r>
            <a:r>
              <a:rPr lang="en-US" altLang="en-US" sz="2400">
                <a:solidFill>
                  <a:srgbClr val="FF0000"/>
                </a:solidFill>
              </a:rPr>
              <a:t>2048-bitna RSA enkripcija</a:t>
            </a:r>
            <a:r>
              <a:rPr lang="sr-Latn-ME" altLang="en-US" sz="2400"/>
              <a:t>.</a:t>
            </a:r>
            <a:endParaRPr lang="sr-Latn-ME" altLang="en-US" sz="240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1475" y="2094230"/>
            <a:ext cx="2018030" cy="168719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535" y="4777740"/>
            <a:ext cx="5974715" cy="181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 sz="4000"/>
              <a:t>Root pristup i njegove posledice</a:t>
            </a:r>
            <a:endParaRPr lang="en-US" alt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1640"/>
            <a:ext cx="10515600" cy="4485640"/>
          </a:xfrm>
        </p:spPr>
        <p:txBody>
          <a:bodyPr>
            <a:noAutofit/>
          </a:bodyPr>
          <a:p>
            <a:r>
              <a:rPr lang="en-US" altLang="en-US"/>
              <a:t>Korisnik sa root pristupom ima potpunu kontrolu nad svim datotekama, servisima, procesima i pode</a:t>
            </a:r>
            <a:r>
              <a:rPr lang="en-US" altLang="en-US"/>
              <a:t>š</a:t>
            </a:r>
            <a:r>
              <a:rPr lang="en-US" altLang="en-US"/>
              <a:t>avanjima ure</a:t>
            </a:r>
            <a:r>
              <a:rPr lang="en-US" altLang="en-US"/>
              <a:t>đ</a:t>
            </a:r>
            <a:r>
              <a:rPr lang="en-US" altLang="en-US"/>
              <a:t>aja</a:t>
            </a:r>
            <a:r>
              <a:rPr lang="sr-Latn-ME" altLang="en-US"/>
              <a:t>. </a:t>
            </a:r>
            <a:endParaRPr lang="sr-Latn-ME" altLang="en-US"/>
          </a:p>
          <a:p>
            <a:pPr marL="0" indent="0">
              <a:buNone/>
            </a:pPr>
            <a:r>
              <a:rPr lang="sr-Latn-ME" altLang="en-US">
                <a:solidFill>
                  <a:schemeClr val="tx1"/>
                </a:solidFill>
              </a:rPr>
              <a:t>Kor</a:t>
            </a:r>
            <a:r>
              <a:rPr lang="en-US" altLang="en-US">
                <a:solidFill>
                  <a:schemeClr val="tx1"/>
                </a:solidFill>
              </a:rPr>
              <a:t>isnik</a:t>
            </a:r>
            <a:r>
              <a:rPr lang="sr-Latn-ME" altLang="en-US">
                <a:solidFill>
                  <a:schemeClr val="tx1"/>
                </a:solidFill>
              </a:rPr>
              <a:t> </a:t>
            </a:r>
            <a:r>
              <a:rPr lang="en-US" altLang="en-US">
                <a:solidFill>
                  <a:schemeClr val="tx1"/>
                </a:solidFill>
              </a:rPr>
              <a:t>sa root pristupom sistemu mo</a:t>
            </a:r>
            <a:r>
              <a:rPr lang="en-US" altLang="en-US">
                <a:solidFill>
                  <a:schemeClr val="tx1"/>
                </a:solidFill>
              </a:rPr>
              <a:t>ž</a:t>
            </a:r>
            <a:r>
              <a:rPr lang="en-US" altLang="en-US">
                <a:solidFill>
                  <a:schemeClr val="tx1"/>
                </a:solidFill>
              </a:rPr>
              <a:t>e da: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Menja sistemske particije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Pokre</a:t>
            </a:r>
            <a:r>
              <a:rPr lang="en-US" altLang="en-US">
                <a:solidFill>
                  <a:schemeClr val="tx1"/>
                </a:solidFill>
              </a:rPr>
              <a:t>ć</a:t>
            </a:r>
            <a:r>
              <a:rPr lang="en-US" altLang="en-US">
                <a:solidFill>
                  <a:schemeClr val="tx1"/>
                </a:solidFill>
              </a:rPr>
              <a:t>e dodatne servise koji menjaju logove ure</a:t>
            </a:r>
            <a:r>
              <a:rPr lang="en-US" altLang="en-US">
                <a:solidFill>
                  <a:schemeClr val="tx1"/>
                </a:solidFill>
              </a:rPr>
              <a:t>đ</a:t>
            </a:r>
            <a:r>
              <a:rPr lang="en-US" altLang="en-US">
                <a:solidFill>
                  <a:schemeClr val="tx1"/>
                </a:solidFill>
              </a:rPr>
              <a:t>aja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Menja vreme pristupa fajlovima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Prikrije tragove malvera i da mu jo</a:t>
            </a:r>
            <a:r>
              <a:rPr lang="en-US" altLang="en-US">
                <a:solidFill>
                  <a:schemeClr val="tx1"/>
                </a:solidFill>
              </a:rPr>
              <a:t>š</a:t>
            </a:r>
            <a:r>
              <a:rPr lang="en-US" altLang="en-US">
                <a:solidFill>
                  <a:schemeClr val="tx1"/>
                </a:solidFill>
              </a:rPr>
              <a:t> ve</a:t>
            </a:r>
            <a:r>
              <a:rPr lang="en-US" altLang="en-US">
                <a:solidFill>
                  <a:schemeClr val="tx1"/>
                </a:solidFill>
              </a:rPr>
              <a:t>ć</a:t>
            </a:r>
            <a:r>
              <a:rPr lang="en-US" altLang="en-US">
                <a:solidFill>
                  <a:schemeClr val="tx1"/>
                </a:solidFill>
              </a:rPr>
              <a:t>e privilegije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sr-Latn-ME" altLang="en-US">
                <a:solidFill>
                  <a:srgbClr val="FF0000"/>
                </a:solidFill>
              </a:rPr>
              <a:t>P</a:t>
            </a:r>
            <a:r>
              <a:rPr lang="en-US" altLang="en-US">
                <a:solidFill>
                  <a:srgbClr val="FF0000"/>
                </a:solidFill>
              </a:rPr>
              <a:t>odaci sa rootvanog ure</a:t>
            </a:r>
            <a:r>
              <a:rPr lang="en-US" altLang="en-US">
                <a:solidFill>
                  <a:srgbClr val="FF0000"/>
                </a:solidFill>
              </a:rPr>
              <a:t>đ</a:t>
            </a:r>
            <a:r>
              <a:rPr lang="en-US" altLang="en-US">
                <a:solidFill>
                  <a:srgbClr val="FF0000"/>
                </a:solidFill>
              </a:rPr>
              <a:t>aja</a:t>
            </a:r>
            <a:r>
              <a:rPr lang="sr-Latn-ME" altLang="en-US">
                <a:solidFill>
                  <a:srgbClr val="FF0000"/>
                </a:solidFill>
              </a:rPr>
              <a:t> se</a:t>
            </a:r>
            <a:r>
              <a:rPr lang="en-US" altLang="en-US">
                <a:solidFill>
                  <a:srgbClr val="FF0000"/>
                </a:solidFill>
              </a:rPr>
              <a:t> smatraju </a:t>
            </a:r>
            <a:r>
              <a:rPr lang="sr-Latn-ME" altLang="en-US">
                <a:solidFill>
                  <a:srgbClr val="FF0000"/>
                </a:solidFill>
              </a:rPr>
              <a:t>ne</a:t>
            </a:r>
            <a:r>
              <a:rPr lang="en-US" altLang="en-US">
                <a:solidFill>
                  <a:srgbClr val="FF0000"/>
                </a:solidFill>
              </a:rPr>
              <a:t>pouzdanim</a:t>
            </a:r>
            <a:r>
              <a:rPr lang="sr-Latn-ME" altLang="en-US">
                <a:solidFill>
                  <a:srgbClr val="FF0000"/>
                </a:solidFill>
              </a:rPr>
              <a:t>.</a:t>
            </a:r>
            <a:endParaRPr lang="sr-Latn-ME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Zaklju</a:t>
            </a:r>
            <a:r>
              <a:rPr lang="en-US" altLang="en-US"/>
              <a:t>č</a:t>
            </a:r>
            <a:r>
              <a:rPr lang="en-US" altLang="en-US"/>
              <a:t>ani </a:t>
            </a:r>
            <a:r>
              <a:rPr lang="en-US" altLang="en-US" sz="4000"/>
              <a:t>i </a:t>
            </a:r>
            <a:r>
              <a:rPr lang="en-US" altLang="en-US"/>
              <a:t>otklju</a:t>
            </a:r>
            <a:r>
              <a:rPr lang="en-US" altLang="en-US"/>
              <a:t>č</a:t>
            </a:r>
            <a:r>
              <a:rPr lang="en-US" altLang="en-US"/>
              <a:t>ani bootloader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>
                <a:solidFill>
                  <a:srgbClr val="FF0000"/>
                </a:solidFill>
              </a:rPr>
              <a:t>Bootloader</a:t>
            </a:r>
            <a:r>
              <a:rPr lang="en-US" altLang="en-US"/>
              <a:t> je program koji pokre</a:t>
            </a:r>
            <a:r>
              <a:rPr lang="en-US" altLang="en-US"/>
              <a:t>ć</a:t>
            </a:r>
            <a:r>
              <a:rPr lang="en-US" altLang="en-US"/>
              <a:t>e Android sistem.</a:t>
            </a:r>
            <a:endParaRPr lang="en-US" altLang="en-US"/>
          </a:p>
          <a:p>
            <a:r>
              <a:rPr lang="en-US" altLang="en-US">
                <a:solidFill>
                  <a:schemeClr val="tx1"/>
                </a:solidFill>
              </a:rPr>
              <a:t>Zaklju</a:t>
            </a:r>
            <a:r>
              <a:rPr lang="en-US" altLang="en-US">
                <a:solidFill>
                  <a:schemeClr val="tx1"/>
                </a:solidFill>
              </a:rPr>
              <a:t>č</a:t>
            </a:r>
            <a:r>
              <a:rPr lang="en-US" altLang="en-US">
                <a:solidFill>
                  <a:schemeClr val="tx1"/>
                </a:solidFill>
              </a:rPr>
              <a:t>ani bootloader</a:t>
            </a:r>
            <a:r>
              <a:rPr lang="en-US" altLang="en-US"/>
              <a:t> spre</a:t>
            </a:r>
            <a:r>
              <a:rPr lang="en-US" altLang="en-US"/>
              <a:t>č</a:t>
            </a:r>
            <a:r>
              <a:rPr lang="en-US" altLang="en-US"/>
              <a:t>ava modifikaciju sistemskih paritcija </a:t>
            </a:r>
            <a:r>
              <a:rPr lang="en-US" altLang="en-US"/>
              <a:t>č</a:t>
            </a:r>
            <a:r>
              <a:rPr lang="en-US" altLang="en-US"/>
              <a:t>ime se garantuje integritet sistema i podataka u njemu. </a:t>
            </a:r>
            <a:endParaRPr lang="en-US" altLang="en-US"/>
          </a:p>
          <a:p>
            <a:r>
              <a:rPr lang="en-US" altLang="en-US"/>
              <a:t>Otklju</a:t>
            </a:r>
            <a:r>
              <a:rPr lang="en-US" altLang="en-US"/>
              <a:t>č</a:t>
            </a:r>
            <a:r>
              <a:rPr lang="en-US" altLang="en-US"/>
              <a:t>ani bootloader </a:t>
            </a:r>
            <a:r>
              <a:rPr lang="sr-Latn-ME"/>
              <a:t>o</a:t>
            </a:r>
            <a:r>
              <a:rPr lang="en-US" altLang="en-US"/>
              <a:t>mogu</a:t>
            </a:r>
            <a:r>
              <a:rPr lang="en-US" altLang="en-US"/>
              <a:t>ć</a:t>
            </a:r>
            <a:r>
              <a:rPr lang="en-US" altLang="en-US"/>
              <a:t>ava instaliranje root alata, menja proces verifikovanog podizanja sistema(Verified Boot) i naru</a:t>
            </a:r>
            <a:r>
              <a:rPr lang="en-US" altLang="en-US"/>
              <a:t>š</a:t>
            </a:r>
            <a:r>
              <a:rPr lang="en-US" altLang="en-US"/>
              <a:t>ava integritet podataka u sistemu. </a:t>
            </a:r>
            <a:endParaRPr lang="en-US" altLang="en-US"/>
          </a:p>
          <a:p>
            <a:pPr marL="0" indent="0">
              <a:buNone/>
            </a:pP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110" y="0"/>
            <a:ext cx="10515600" cy="1325563"/>
          </a:xfrm>
        </p:spPr>
        <p:txBody>
          <a:bodyPr/>
          <a:p>
            <a:pPr algn="ctr"/>
            <a:r>
              <a:rPr lang="en-US" altLang="en-US" sz="4000"/>
              <a:t>Primena ADB-a u digitalnoj forenzici</a:t>
            </a:r>
            <a:endParaRPr lang="en-US" alt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730" y="1187450"/>
            <a:ext cx="11832590" cy="4989830"/>
          </a:xfrm>
        </p:spPr>
        <p:txBody>
          <a:bodyPr/>
          <a:p>
            <a:pPr marL="0" indent="0" algn="ctr">
              <a:buNone/>
            </a:pPr>
            <a:r>
              <a:rPr lang="en-US" altLang="en-US" sz="3200">
                <a:solidFill>
                  <a:srgbClr val="FF0000"/>
                </a:solidFill>
              </a:rPr>
              <a:t>Prikupljanje podatak</a:t>
            </a:r>
            <a:r>
              <a:rPr lang="sr-Latn-ME" altLang="en-US" sz="3200">
                <a:solidFill>
                  <a:srgbClr val="FF0000"/>
                </a:solidFill>
              </a:rPr>
              <a:t>a</a:t>
            </a:r>
            <a:endParaRPr lang="sr-Latn-ME" altLang="en-US" sz="320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sr-Latn-ME" altLang="en-US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sr-Latn-ME" altLang="en-US">
                <a:solidFill>
                  <a:schemeClr val="tx1"/>
                </a:solidFill>
              </a:rPr>
              <a:t>K</a:t>
            </a:r>
            <a:r>
              <a:rPr lang="en-US" altLang="en-US">
                <a:solidFill>
                  <a:schemeClr val="tx1"/>
                </a:solidFill>
              </a:rPr>
              <a:t>omandom </a:t>
            </a:r>
            <a:r>
              <a:rPr lang="sr-Latn-ME" altLang="en-US" i="1">
                <a:solidFill>
                  <a:schemeClr val="tx1"/>
                </a:solidFill>
              </a:rPr>
              <a:t>adb </a:t>
            </a:r>
            <a:r>
              <a:rPr lang="sr-Latn-ME" altLang="en-US" i="1">
                <a:solidFill>
                  <a:schemeClr val="tx1"/>
                </a:solidFill>
              </a:rPr>
              <a:t>pull </a:t>
            </a:r>
            <a:r>
              <a:rPr lang="en-US" altLang="en-US">
                <a:solidFill>
                  <a:schemeClr val="tx1"/>
                </a:solidFill>
              </a:rPr>
              <a:t>se pristupa sadr</a:t>
            </a:r>
            <a:r>
              <a:rPr lang="en-US" altLang="en-US">
                <a:solidFill>
                  <a:schemeClr val="tx1"/>
                </a:solidFill>
              </a:rPr>
              <a:t>ž</a:t>
            </a:r>
            <a:r>
              <a:rPr lang="en-US" altLang="en-US">
                <a:solidFill>
                  <a:schemeClr val="tx1"/>
                </a:solidFill>
              </a:rPr>
              <a:t>aju koji se nalazi na navedenoj putanji</a:t>
            </a:r>
            <a:r>
              <a:rPr lang="sr-Latn-ME" altLang="en-US">
                <a:solidFill>
                  <a:schemeClr val="tx1"/>
                </a:solidFill>
              </a:rPr>
              <a:t>.</a:t>
            </a:r>
            <a:r>
              <a:rPr lang="en-US" altLang="en-US">
                <a:solidFill>
                  <a:schemeClr val="tx1"/>
                </a:solidFill>
              </a:rPr>
              <a:t> 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sr-Latn-ME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sr-Latn-ME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sr-Latn-ME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sr-Latn-ME" altLang="en-US">
                <a:solidFill>
                  <a:schemeClr val="tx1"/>
                </a:solidFill>
              </a:rPr>
              <a:t>Komandom </a:t>
            </a:r>
            <a:r>
              <a:rPr lang="en-US" altLang="en-US" i="1">
                <a:solidFill>
                  <a:schemeClr val="tx1"/>
                </a:solidFill>
              </a:rPr>
              <a:t>adb backup [BackupOpcija] -f &lt;putanja_do_fajla.ab&gt; [paket_ili_aplikacije]</a:t>
            </a:r>
            <a:r>
              <a:rPr lang="sr-Latn-ME" altLang="en-US">
                <a:solidFill>
                  <a:schemeClr val="tx1"/>
                </a:solidFill>
              </a:rPr>
              <a:t> se kreira backup podataka sa telefona.</a:t>
            </a:r>
            <a:endParaRPr lang="sr-Latn-ME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sr-Latn-ME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sr-Latn-ME" altLang="en-US">
              <a:solidFill>
                <a:schemeClr val="tx1"/>
              </a:solidFill>
            </a:endParaRP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55" y="3014345"/>
            <a:ext cx="10346690" cy="829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655" y="5386705"/>
            <a:ext cx="10346690" cy="103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00990"/>
            <a:ext cx="10515600" cy="5876290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rgbClr val="FF0000"/>
                </a:solidFill>
              </a:rPr>
              <a:t>Pregled i analiza aplikacija </a:t>
            </a:r>
            <a:endParaRPr lang="en-US" altLang="en-US" sz="2400">
              <a:solidFill>
                <a:srgbClr val="FF0000"/>
              </a:solidFill>
            </a:endParaRPr>
          </a:p>
          <a:p>
            <a:pPr marL="0" indent="0" algn="l">
              <a:buNone/>
            </a:pPr>
            <a:r>
              <a:rPr lang="en-US" altLang="en-US" sz="2400">
                <a:solidFill>
                  <a:schemeClr val="tx1"/>
                </a:solidFill>
              </a:rPr>
              <a:t>Komandom </a:t>
            </a:r>
            <a:r>
              <a:rPr lang="en-US" altLang="en-US" sz="2400" i="1">
                <a:solidFill>
                  <a:schemeClr val="tx1"/>
                </a:solidFill>
              </a:rPr>
              <a:t>adb shell pm list packages -f </a:t>
            </a:r>
            <a:r>
              <a:rPr lang="en-US" altLang="en-US" sz="2400">
                <a:solidFill>
                  <a:schemeClr val="tx1"/>
                </a:solidFill>
              </a:rPr>
              <a:t>se dobija lista svih instaliranih aplikacija uklju</a:t>
            </a:r>
            <a:r>
              <a:rPr lang="" altLang="en-US" sz="2400">
                <a:solidFill>
                  <a:schemeClr val="tx1"/>
                </a:solidFill>
              </a:rPr>
              <a:t>č</a:t>
            </a:r>
            <a:r>
              <a:rPr lang="en-US" altLang="en-US" sz="2400">
                <a:solidFill>
                  <a:schemeClr val="tx1"/>
                </a:solidFill>
              </a:rPr>
              <a:t>uju</a:t>
            </a:r>
            <a:r>
              <a:rPr lang="" altLang="en-US" sz="2400">
                <a:solidFill>
                  <a:schemeClr val="tx1"/>
                </a:solidFill>
              </a:rPr>
              <a:t>ć</a:t>
            </a:r>
            <a:r>
              <a:rPr lang="en-US" altLang="en-US" sz="2400">
                <a:solidFill>
                  <a:schemeClr val="tx1"/>
                </a:solidFill>
              </a:rPr>
              <a:t>i i skrivene i sistemske aplikacije.</a:t>
            </a:r>
            <a:endParaRPr lang="en-US" altLang="en-US" sz="2400">
              <a:solidFill>
                <a:schemeClr val="tx1"/>
              </a:solidFill>
            </a:endParaRP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110" y="1643380"/>
            <a:ext cx="5608955" cy="2880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29260"/>
            <a:ext cx="10515600" cy="5748020"/>
          </a:xfrm>
        </p:spPr>
        <p:txBody>
          <a:bodyPr>
            <a:normAutofit/>
          </a:bodyPr>
          <a:p>
            <a:pPr marL="0" indent="0" algn="ctr">
              <a:buNone/>
            </a:pPr>
            <a:r>
              <a:rPr lang="en-US" altLang="en-US" sz="2400">
                <a:solidFill>
                  <a:srgbClr val="FF0000"/>
                </a:solidFill>
              </a:rPr>
              <a:t>Prikupljanje informacija o hardveru</a:t>
            </a:r>
            <a:endParaRPr lang="en-US" altLang="en-US">
              <a:solidFill>
                <a:srgbClr val="FF0000"/>
              </a:solidFill>
            </a:endParaRPr>
          </a:p>
          <a:p>
            <a:pPr algn="l"/>
            <a:r>
              <a:rPr lang="en-US" altLang="en-US" sz="2400">
                <a:solidFill>
                  <a:schemeClr val="tx1"/>
                </a:solidFill>
              </a:rPr>
              <a:t>Komanda </a:t>
            </a:r>
            <a:r>
              <a:rPr lang="en-US" altLang="en-US" sz="2400" i="1">
                <a:solidFill>
                  <a:schemeClr val="tx1"/>
                </a:solidFill>
              </a:rPr>
              <a:t>adb shell getprop</a:t>
            </a:r>
            <a:r>
              <a:rPr lang="en-US" altLang="en-US" sz="2400">
                <a:solidFill>
                  <a:schemeClr val="tx1"/>
                </a:solidFill>
              </a:rPr>
              <a:t> prikazuje sistemska svojstva Android ure</a:t>
            </a:r>
            <a:r>
              <a:rPr lang="" altLang="en-US" sz="2400">
                <a:solidFill>
                  <a:schemeClr val="tx1"/>
                </a:solidFill>
              </a:rPr>
              <a:t>đ</a:t>
            </a:r>
            <a:r>
              <a:rPr lang="en-US" altLang="en-US" sz="2400">
                <a:solidFill>
                  <a:schemeClr val="tx1"/>
                </a:solidFill>
              </a:rPr>
              <a:t>aja.</a:t>
            </a: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endParaRPr lang="en-US" altLang="en-US">
              <a:solidFill>
                <a:srgbClr val="FF0000"/>
              </a:solidFill>
            </a:endParaRPr>
          </a:p>
          <a:p>
            <a:pPr marL="0" indent="0" algn="l">
              <a:buNone/>
            </a:pPr>
            <a:r>
              <a:rPr lang="en-US" altLang="en-US" sz="2400">
                <a:solidFill>
                  <a:schemeClr val="tx1"/>
                </a:solidFill>
              </a:rPr>
              <a:t>Android verzija:</a:t>
            </a: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r>
              <a:rPr lang="en-US" altLang="en-US" sz="2400">
                <a:solidFill>
                  <a:schemeClr val="tx1"/>
                </a:solidFill>
              </a:rPr>
              <a:t>Sigurnosna patch verzija:</a:t>
            </a: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r>
              <a:rPr lang="en-US" altLang="en-US" sz="2400">
                <a:solidFill>
                  <a:schemeClr val="tx1"/>
                </a:solidFill>
              </a:rPr>
              <a:t>Model ure</a:t>
            </a:r>
            <a:r>
              <a:rPr lang="" altLang="en-US" sz="2400">
                <a:solidFill>
                  <a:schemeClr val="tx1"/>
                </a:solidFill>
              </a:rPr>
              <a:t>đ</a:t>
            </a:r>
            <a:r>
              <a:rPr lang="en-US" altLang="en-US" sz="2400">
                <a:solidFill>
                  <a:schemeClr val="tx1"/>
                </a:solidFill>
              </a:rPr>
              <a:t>aja:</a:t>
            </a:r>
            <a:endParaRPr lang="en-US" altLang="en-US" sz="2400">
              <a:solidFill>
                <a:schemeClr val="tx1"/>
              </a:solidFill>
            </a:endParaRPr>
          </a:p>
          <a:p>
            <a:pPr marL="0" indent="0" algn="l">
              <a:buNone/>
            </a:pPr>
            <a:endParaRPr lang="en-US" altLang="en-US">
              <a:solidFill>
                <a:srgbClr val="FF0000"/>
              </a:solidFill>
            </a:endParaRPr>
          </a:p>
          <a:p>
            <a:pPr marL="0" indent="0" algn="l">
              <a:buNone/>
            </a:pPr>
            <a:endParaRPr lang="en-US" altLang="en-US">
              <a:solidFill>
                <a:srgbClr val="FF0000"/>
              </a:solidFill>
            </a:endParaRPr>
          </a:p>
          <a:p>
            <a:pPr marL="0" indent="0" algn="l">
              <a:buNone/>
            </a:pPr>
            <a:endParaRPr lang="en-US" altLang="en-US">
              <a:solidFill>
                <a:srgbClr val="FF0000"/>
              </a:solidFill>
            </a:endParaRPr>
          </a:p>
        </p:txBody>
      </p:sp>
      <p:pic>
        <p:nvPicPr>
          <p:cNvPr id="18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30" y="3260725"/>
            <a:ext cx="4476750" cy="33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30" y="2388870"/>
            <a:ext cx="4826000" cy="42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30" y="4199255"/>
            <a:ext cx="3683000" cy="54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905" y="404495"/>
            <a:ext cx="11064240" cy="5772785"/>
          </a:xfrm>
        </p:spPr>
        <p:txBody>
          <a:bodyPr/>
          <a:p>
            <a:pPr marL="0" indent="0">
              <a:buNone/>
            </a:pPr>
            <a:r>
              <a:rPr lang="en-US" altLang="en-US" sz="2400"/>
              <a:t>Komanda </a:t>
            </a:r>
            <a:r>
              <a:rPr lang="en-US" altLang="en-US" sz="2400" i="1"/>
              <a:t>adb shell cat /proc/cpuinfo</a:t>
            </a:r>
            <a:r>
              <a:rPr lang="en-US" altLang="en-US" sz="2400"/>
              <a:t> prikazuje informacije o procesoru kao </a:t>
            </a:r>
            <a:r>
              <a:rPr lang="" altLang="en-US" sz="2400"/>
              <a:t>š</a:t>
            </a:r>
            <a:r>
              <a:rPr lang="en-US" altLang="en-US" sz="2400"/>
              <a:t>to su model procesora, broj jezgara tog procesora, arhitekturu procesora i serijski broj procesa.</a:t>
            </a: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</p:txBody>
      </p:sp>
      <p:pic>
        <p:nvPicPr>
          <p:cNvPr id="32" name="Picture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0050" y="1388745"/>
            <a:ext cx="4096385" cy="48399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8500" y="295275"/>
            <a:ext cx="11008995" cy="5882005"/>
          </a:xfrm>
        </p:spPr>
        <p:txBody>
          <a:bodyPr/>
          <a:p>
            <a:pPr marL="0" indent="0">
              <a:buNone/>
            </a:pPr>
            <a:r>
              <a:rPr lang="en-US" altLang="en-US" sz="2400"/>
              <a:t>Komanda </a:t>
            </a:r>
            <a:r>
              <a:rPr lang="en-US" altLang="en-US" sz="2400" i="1"/>
              <a:t>adb shell cat /proc/meminfo</a:t>
            </a:r>
            <a:r>
              <a:rPr lang="en-US" altLang="en-US" sz="2400"/>
              <a:t> prikazuje detaljne informacije o RAM memoriji Android ure</a:t>
            </a:r>
            <a:r>
              <a:rPr lang="" altLang="en-US" sz="2400"/>
              <a:t>đ</a:t>
            </a:r>
            <a:r>
              <a:rPr lang="en-US" altLang="en-US" sz="2400"/>
              <a:t>aja.</a:t>
            </a:r>
            <a:endParaRPr lang="en-US" altLang="en-US" sz="2400"/>
          </a:p>
        </p:txBody>
      </p:sp>
      <p:pic>
        <p:nvPicPr>
          <p:cNvPr id="33" name="Picture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9950" y="900430"/>
            <a:ext cx="3149600" cy="527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40665"/>
            <a:ext cx="10515600" cy="5936615"/>
          </a:xfrm>
        </p:spPr>
        <p:txBody>
          <a:bodyPr/>
          <a:p>
            <a:pPr marL="0" indent="0" algn="ctr">
              <a:buNone/>
            </a:pPr>
            <a:r>
              <a:rPr lang="en-US" sz="2400">
                <a:solidFill>
                  <a:srgbClr val="FF0000"/>
                </a:solidFill>
              </a:rPr>
              <a:t>Prikupljanje informacija o trenutnom stanju ure</a:t>
            </a:r>
            <a:r>
              <a:rPr lang="sr-Latn-ME" sz="2400">
                <a:solidFill>
                  <a:srgbClr val="FF0000"/>
                </a:solidFill>
              </a:rPr>
              <a:t>đaja</a:t>
            </a:r>
            <a:endParaRPr lang="en-US" sz="2400">
              <a:solidFill>
                <a:srgbClr val="FF0000"/>
              </a:solidFill>
            </a:endParaRPr>
          </a:p>
          <a:p>
            <a:r>
              <a:rPr lang="en-US" sz="2400"/>
              <a:t>Komanda </a:t>
            </a:r>
            <a:r>
              <a:rPr lang="en-US" sz="2400" i="1"/>
              <a:t>a</a:t>
            </a:r>
            <a:r>
              <a:rPr lang="en-US" altLang="en-US" sz="2400" i="1"/>
              <a:t>db shell dumpsys</a:t>
            </a:r>
            <a:r>
              <a:rPr lang="en-US" altLang="en-US" sz="2400"/>
              <a:t> prikazuje stanje svih klju</a:t>
            </a:r>
            <a:r>
              <a:rPr lang="" altLang="en-US" sz="2400"/>
              <a:t>č</a:t>
            </a:r>
            <a:r>
              <a:rPr lang="en-US" altLang="en-US" sz="2400"/>
              <a:t>nih Android servisa koji trenutno rade u operativnom sistemu ure</a:t>
            </a:r>
            <a:r>
              <a:rPr lang="" altLang="en-US" sz="2400"/>
              <a:t>đ</a:t>
            </a:r>
            <a:r>
              <a:rPr lang="en-US" altLang="en-US" sz="2400"/>
              <a:t>aja. Omogu</a:t>
            </a:r>
            <a:r>
              <a:rPr lang="" altLang="en-US" sz="2400"/>
              <a:t>ć</a:t>
            </a:r>
            <a:r>
              <a:rPr lang="en-US" altLang="en-US" sz="2400"/>
              <a:t>ava uvid u trenutno stanje ure</a:t>
            </a:r>
            <a:r>
              <a:rPr lang="" altLang="en-US" sz="2400"/>
              <a:t>đ</a:t>
            </a:r>
            <a:r>
              <a:rPr lang="en-US" altLang="en-US" sz="2400"/>
              <a:t>aja bez direktnog pristupa fajl sistemu.</a:t>
            </a:r>
            <a:endParaRPr lang="en-US" altLang="en-US" sz="2400"/>
          </a:p>
          <a:p>
            <a:pPr marL="0" indent="0">
              <a:buNone/>
            </a:pPr>
            <a:r>
              <a:rPr lang="en-US" altLang="en-US" sz="2400"/>
              <a:t>    Informacije o trenutnim aktivnostima:</a:t>
            </a: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  <a:p>
            <a:pPr marL="0" indent="0">
              <a:buNone/>
            </a:pPr>
            <a:endParaRPr lang="en-US" altLang="en-US" sz="2400"/>
          </a:p>
        </p:txBody>
      </p:sp>
      <p:pic>
        <p:nvPicPr>
          <p:cNvPr id="23" name="Pictur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410" y="2317115"/>
            <a:ext cx="4030980" cy="287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40"/>
            <a:ext cx="10515600" cy="6047740"/>
          </a:xfrm>
        </p:spPr>
        <p:txBody>
          <a:bodyPr/>
          <a:p>
            <a:pPr marL="0" indent="0">
              <a:buNone/>
            </a:pPr>
            <a:r>
              <a:rPr lang="en-US" sz="2400"/>
              <a:t>Informacije o bateriji:</a:t>
            </a:r>
            <a:endParaRPr lang="en-US" sz="2400"/>
          </a:p>
          <a:p>
            <a:pPr marL="0" indent="0">
              <a:buNone/>
            </a:pPr>
            <a:endParaRPr lang="en-US" sz="2400"/>
          </a:p>
          <a:p>
            <a:pPr marL="0" indent="0">
              <a:buNone/>
            </a:pPr>
            <a:endParaRPr lang="en-US" sz="2400"/>
          </a:p>
          <a:p>
            <a:pPr marL="0" indent="0">
              <a:buNone/>
            </a:pPr>
            <a:endParaRPr lang="en-US" sz="2400"/>
          </a:p>
          <a:p>
            <a:pPr marL="0" indent="0">
              <a:buNone/>
            </a:pPr>
            <a:endParaRPr lang="en-US" sz="2400"/>
          </a:p>
          <a:p>
            <a:pPr marL="0" indent="0">
              <a:buNone/>
            </a:pPr>
            <a:endParaRPr lang="en-US" sz="2400"/>
          </a:p>
          <a:p>
            <a:pPr marL="0" indent="0">
              <a:buNone/>
            </a:pPr>
            <a:r>
              <a:rPr lang="en-US" sz="2400"/>
              <a:t>Informacije o trenutno zauzetoj memoriji i softveru:</a:t>
            </a:r>
            <a:endParaRPr lang="en-US" sz="2400"/>
          </a:p>
          <a:p>
            <a:pPr marL="0" indent="0">
              <a:buNone/>
            </a:pPr>
            <a:endParaRPr lang="en-US" sz="2400"/>
          </a:p>
        </p:txBody>
      </p:sp>
      <p:pic>
        <p:nvPicPr>
          <p:cNvPr id="27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557530"/>
            <a:ext cx="2789555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282950"/>
            <a:ext cx="3442335" cy="3194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595" y="3282950"/>
            <a:ext cx="4476115" cy="3194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6110" y="360045"/>
            <a:ext cx="11078845" cy="5817235"/>
          </a:xfrm>
        </p:spPr>
        <p:txBody>
          <a:bodyPr/>
          <a:p>
            <a:pPr marL="0" indent="0" algn="ctr">
              <a:buNone/>
            </a:pPr>
            <a:r>
              <a:rPr lang="en-US" altLang="en-US" sz="2400">
                <a:solidFill>
                  <a:srgbClr val="FF0000"/>
                </a:solidFill>
                <a:sym typeface="+mn-ea"/>
              </a:rPr>
              <a:t>Analiza mre</a:t>
            </a:r>
            <a:r>
              <a:rPr lang="" altLang="en-US" sz="2400">
                <a:solidFill>
                  <a:srgbClr val="FF0000"/>
                </a:solidFill>
                <a:sym typeface="+mn-ea"/>
              </a:rPr>
              <a:t>ž</a:t>
            </a:r>
            <a:r>
              <a:rPr lang="en-US" altLang="en-US" sz="2400">
                <a:solidFill>
                  <a:srgbClr val="FF0000"/>
                </a:solidFill>
                <a:sym typeface="+mn-ea"/>
              </a:rPr>
              <a:t>ne aktivnosti</a:t>
            </a:r>
            <a:endParaRPr lang="en-US" altLang="en-US" sz="2400">
              <a:solidFill>
                <a:srgbClr val="FF0000"/>
              </a:solidFill>
              <a:sym typeface="+mn-ea"/>
            </a:endParaRPr>
          </a:p>
          <a:p>
            <a:pPr marL="0" indent="0" algn="l">
              <a:buNone/>
            </a:pPr>
            <a:r>
              <a:rPr lang="sr-Latn-RS" altLang="en-US" sz="2400"/>
              <a:t>K</a:t>
            </a:r>
            <a:r>
              <a:rPr lang="en-US" altLang="en-US" sz="2400"/>
              <a:t>omanda </a:t>
            </a:r>
            <a:r>
              <a:rPr lang="en-US" altLang="en-US" sz="2400" i="1"/>
              <a:t>adb shell netstat</a:t>
            </a:r>
            <a:r>
              <a:rPr lang="sr-Latn-RS" altLang="en-US" sz="2400"/>
              <a:t> </a:t>
            </a:r>
            <a:r>
              <a:rPr lang="en-US" altLang="en-US" sz="2400"/>
              <a:t>prikazuje mre</a:t>
            </a:r>
            <a:r>
              <a:rPr lang="" altLang="en-US" sz="2400"/>
              <a:t>ž</a:t>
            </a:r>
            <a:r>
              <a:rPr lang="en-US" altLang="en-US" sz="2400"/>
              <a:t>ne aktivnosti ure</a:t>
            </a:r>
            <a:r>
              <a:rPr lang="" altLang="en-US" sz="2400"/>
              <a:t>đ</a:t>
            </a:r>
            <a:r>
              <a:rPr lang="en-US" altLang="en-US" sz="2400"/>
              <a:t>aja. Otkriva otvorene portove, aktivne mre</a:t>
            </a:r>
            <a:r>
              <a:rPr lang="" altLang="en-US" sz="2400"/>
              <a:t>ž</a:t>
            </a:r>
            <a:r>
              <a:rPr lang="en-US" altLang="en-US" sz="2400"/>
              <a:t>ne konekcije i komunikaciju sa drugim serverima</a:t>
            </a:r>
            <a:r>
              <a:rPr lang="sr-Latn-RS" altLang="en-US" sz="2400"/>
              <a:t>(</a:t>
            </a:r>
            <a:r>
              <a:rPr lang="en-US" altLang="en-US" sz="2400"/>
              <a:t>aktivne TCP i UDP konekcije, portovi koji </a:t>
            </a:r>
            <a:r>
              <a:rPr lang="" altLang="en-US" sz="2400"/>
              <a:t>č</a:t>
            </a:r>
            <a:r>
              <a:rPr lang="en-US" altLang="en-US" sz="2400"/>
              <a:t>ekaju dolazne konekcije, ip adrese povezanih ure</a:t>
            </a:r>
            <a:r>
              <a:rPr lang="" altLang="en-US" sz="2400"/>
              <a:t>đ</a:t>
            </a:r>
            <a:r>
              <a:rPr lang="en-US" altLang="en-US" sz="2400"/>
              <a:t>aja i stanja </a:t>
            </a:r>
            <a:r>
              <a:rPr lang="sr-Latn-RS" altLang="en-US" sz="2400"/>
              <a:t>tih </a:t>
            </a:r>
            <a:r>
              <a:rPr lang="en-US" altLang="en-US" sz="2400"/>
              <a:t>konekcija</a:t>
            </a:r>
            <a:r>
              <a:rPr lang="sr-Latn-RS" altLang="en-US" sz="2400"/>
              <a:t>).</a:t>
            </a:r>
            <a:endParaRPr lang="sr-Latn-RS" altLang="en-US" sz="2400"/>
          </a:p>
          <a:p>
            <a:pPr marL="0" indent="0" algn="l">
              <a:buNone/>
            </a:pPr>
            <a:endParaRPr lang="sr-Latn-RS" altLang="en-US" sz="2400"/>
          </a:p>
        </p:txBody>
      </p:sp>
      <p:pic>
        <p:nvPicPr>
          <p:cNvPr id="34" name="Picture 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3795" y="2066290"/>
            <a:ext cx="5346065" cy="45142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3228</Words>
  <Application>WPS Presentation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Primena ADB alata u analizi Android uređaja</vt:lpstr>
      <vt:lpstr>Android Debug Bridge (ADB)</vt:lpstr>
      <vt:lpstr>Mogućnosti ADB-a</vt:lpstr>
      <vt:lpstr>Secure USB Debugging</vt:lpstr>
      <vt:lpstr>Root pristup i njegove posledice</vt:lpstr>
      <vt:lpstr>Zaključani i otključani bootloader</vt:lpstr>
      <vt:lpstr>Primena ADB-a u digitalnoj forenzici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Zeljko</cp:lastModifiedBy>
  <cp:revision>23</cp:revision>
  <dcterms:created xsi:type="dcterms:W3CDTF">2025-07-23T00:59:00Z</dcterms:created>
  <dcterms:modified xsi:type="dcterms:W3CDTF">2025-12-12T09:40:35Z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1033-12.2.0.23155</vt:lpwstr>
  </property>
</Properties>
</file>