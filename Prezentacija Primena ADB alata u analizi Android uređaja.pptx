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70" r:id="rId7"/>
    <p:sldId id="260" r:id="rId8"/>
    <p:sldId id="261" r:id="rId9"/>
    <p:sldId id="262" r:id="rId10"/>
    <p:sldId id="271" r:id="rId11"/>
    <p:sldId id="263" r:id="rId12"/>
    <p:sldId id="264" r:id="rId13"/>
    <p:sldId id="268" r:id="rId14"/>
    <p:sldId id="269" r:id="rId15"/>
    <p:sldId id="265" r:id="rId16"/>
    <p:sldId id="266" r:id="rId17"/>
    <p:sldId id="267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96000">
              <a:schemeClr val="accent2">
                <a:lumMod val="40000"/>
                <a:lumOff val="60000"/>
              </a:schemeClr>
            </a:gs>
            <a:gs pos="0">
              <a:schemeClr val="accent2">
                <a:lumMod val="20000"/>
                <a:lumOff val="80000"/>
              </a:schemeClr>
            </a:gs>
            <a:gs pos="77000">
              <a:schemeClr val="accent2">
                <a:lumMod val="40000"/>
                <a:lumOff val="60000"/>
              </a:schemeClr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2565" y="480378"/>
            <a:ext cx="9144000" cy="2387600"/>
          </a:xfrm>
        </p:spPr>
        <p:txBody>
          <a:bodyPr/>
          <a:lstStyle/>
          <a:p>
            <a:r>
              <a:rPr lang="sr-Latn-ME" altLang="en-US" b="1" dirty="0"/>
              <a:t>Primena ADB alata u analizi Android uređaja</a:t>
            </a:r>
            <a:endParaRPr lang="sr-Latn-ME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2930" y="4376738"/>
            <a:ext cx="9144000" cy="1655762"/>
          </a:xfrm>
        </p:spPr>
        <p:txBody>
          <a:bodyPr/>
          <a:lstStyle/>
          <a:p>
            <a:pPr algn="r"/>
            <a:r>
              <a:rPr lang="sr-Latn-ME" altLang="en-US" sz="2800"/>
              <a:t>Željko Vasic 1808</a:t>
            </a:r>
            <a:endParaRPr lang="sr-Latn-ME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6215"/>
            <a:ext cx="10515600" cy="1325563"/>
          </a:xfrm>
        </p:spPr>
        <p:txBody>
          <a:bodyPr/>
          <a:p>
            <a:r>
              <a:rPr lang="en-US" altLang="en-US" sz="4000"/>
              <a:t>Android Debug Bridge (ADB)</a:t>
            </a:r>
            <a:endParaRPr lang="en-US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2095"/>
            <a:ext cx="10515600" cy="4655185"/>
          </a:xfrm>
        </p:spPr>
        <p:txBody>
          <a:bodyPr/>
          <a:p>
            <a:pPr marL="0" indent="0">
              <a:buNone/>
            </a:pPr>
            <a:r>
              <a:rPr lang="sr-Latn-ME" altLang="en-US"/>
              <a:t>A</a:t>
            </a:r>
            <a:r>
              <a:rPr lang="en-US" altLang="en-US"/>
              <a:t>lat komandne linije koji omogu</a:t>
            </a:r>
            <a:r>
              <a:rPr lang="en-US" altLang="en-US"/>
              <a:t>ć</a:t>
            </a:r>
            <a:r>
              <a:rPr lang="en-US" altLang="en-US"/>
              <a:t>ava komunikaciju izme</a:t>
            </a:r>
            <a:r>
              <a:rPr lang="en-US" altLang="en-US"/>
              <a:t>đ</a:t>
            </a:r>
            <a:r>
              <a:rPr lang="en-US" altLang="en-US"/>
              <a:t>u programera i povezanog Android ure</a:t>
            </a:r>
            <a:r>
              <a:rPr lang="en-US" altLang="en-US"/>
              <a:t>đ</a:t>
            </a:r>
            <a:r>
              <a:rPr lang="en-US" altLang="en-US"/>
              <a:t>aja ili emulatora</a:t>
            </a:r>
            <a:r>
              <a:rPr lang="sr-Latn-ME" altLang="en-US"/>
              <a:t>.</a:t>
            </a:r>
            <a:endParaRPr lang="sr-Latn-ME" altLang="en-US"/>
          </a:p>
          <a:p>
            <a:pPr marL="0" indent="0">
              <a:buNone/>
            </a:pPr>
            <a:r>
              <a:rPr lang="sr-Latn-ME" altLang="en-US"/>
              <a:t>Tri osnovne komponente ADB-a:</a:t>
            </a:r>
            <a:endParaRPr lang="sr-Latn-ME" altLang="en-US"/>
          </a:p>
          <a:p>
            <a:pPr marL="514350" indent="-514350">
              <a:buFont typeface="+mj-lt"/>
              <a:buAutoNum type="arabicPeriod"/>
            </a:pPr>
            <a:r>
              <a:rPr lang="sr-Latn-ME" altLang="en-US"/>
              <a:t>Klijent</a:t>
            </a:r>
            <a:endParaRPr lang="sr-Latn-ME" altLang="en-US"/>
          </a:p>
          <a:p>
            <a:pPr marL="514350" indent="-514350">
              <a:buFont typeface="+mj-lt"/>
              <a:buAutoNum type="arabicPeriod"/>
            </a:pPr>
            <a:r>
              <a:rPr lang="sr-Latn-ME" altLang="en-US"/>
              <a:t>Server</a:t>
            </a:r>
            <a:endParaRPr lang="sr-Latn-ME" altLang="en-US"/>
          </a:p>
          <a:p>
            <a:pPr marL="514350" indent="-514350">
              <a:buFont typeface="+mj-lt"/>
              <a:buAutoNum type="arabicPeriod"/>
            </a:pPr>
            <a:r>
              <a:rPr lang="sr-Latn-ME" altLang="en-US"/>
              <a:t>ADB demon</a:t>
            </a:r>
            <a:endParaRPr lang="sr-Latn-ME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4555" y="3088005"/>
            <a:ext cx="6834505" cy="2809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6650"/>
          </a:xfrm>
        </p:spPr>
        <p:txBody>
          <a:bodyPr/>
          <a:p>
            <a:r>
              <a:rPr lang="sr-Latn-ME" altLang="en-US" sz="4000"/>
              <a:t>Mogućnosti ADB-a</a:t>
            </a:r>
            <a:endParaRPr lang="sr-Latn-ME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2410"/>
            <a:ext cx="10515600" cy="467487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sr-Latn-ME" altLang="en-US"/>
              <a:t>A</a:t>
            </a:r>
            <a:r>
              <a:rPr lang="en-US" altLang="en-US"/>
              <a:t>DB podr</a:t>
            </a:r>
            <a:r>
              <a:rPr lang="en-US" altLang="en-US"/>
              <a:t>ž</a:t>
            </a:r>
            <a:r>
              <a:rPr lang="en-US" altLang="en-US"/>
              <a:t>ava komuniciranje preko Wi-Fi konekcije i USB konekcije. USB konekcija je </a:t>
            </a:r>
            <a:r>
              <a:rPr lang="en-US" altLang="en-US"/>
              <a:t>č</a:t>
            </a:r>
            <a:r>
              <a:rPr lang="en-US" altLang="en-US"/>
              <a:t>e</a:t>
            </a:r>
            <a:r>
              <a:rPr lang="en-US" altLang="en-US"/>
              <a:t>šć</a:t>
            </a:r>
            <a:r>
              <a:rPr lang="en-US" altLang="en-US"/>
              <a:t>e kori</a:t>
            </a:r>
            <a:r>
              <a:rPr lang="en-US" altLang="en-US"/>
              <a:t>šć</a:t>
            </a:r>
            <a:r>
              <a:rPr lang="en-US" altLang="en-US"/>
              <a:t>en i bezbedniji na</a:t>
            </a:r>
            <a:r>
              <a:rPr lang="en-US" altLang="en-US"/>
              <a:t>č</a:t>
            </a:r>
            <a:r>
              <a:rPr lang="en-US" altLang="en-US"/>
              <a:t>in komunikacije.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USB Debugging omogu</a:t>
            </a:r>
            <a:r>
              <a:rPr lang="en-US" altLang="en-US">
                <a:solidFill>
                  <a:srgbClr val="FF0000"/>
                </a:solidFill>
              </a:rPr>
              <a:t>ć</a:t>
            </a:r>
            <a:r>
              <a:rPr lang="en-US" altLang="en-US">
                <a:solidFill>
                  <a:srgbClr val="FF0000"/>
                </a:solidFill>
              </a:rPr>
              <a:t>ava korisnicima:</a:t>
            </a:r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/>
              <a:t>Pristup unutra</a:t>
            </a:r>
            <a:r>
              <a:rPr lang="en-US" altLang="en-US"/>
              <a:t>š</a:t>
            </a:r>
            <a:r>
              <a:rPr lang="en-US" altLang="en-US"/>
              <a:t>njem stanju aplikacija</a:t>
            </a:r>
            <a:endParaRPr lang="en-US" altLang="en-US"/>
          </a:p>
          <a:p>
            <a:r>
              <a:rPr lang="en-US" altLang="en-US"/>
              <a:t>Instalira i uklanja aplikacije bez provera bezbednosti</a:t>
            </a:r>
            <a:endParaRPr lang="en-US" altLang="en-US"/>
          </a:p>
          <a:p>
            <a:r>
              <a:rPr lang="en-US" altLang="en-US"/>
              <a:t>Pristup logovima sistema</a:t>
            </a:r>
            <a:endParaRPr lang="en-US" altLang="en-US"/>
          </a:p>
          <a:p>
            <a:r>
              <a:rPr lang="en-US" altLang="en-US"/>
              <a:t>Kopira fajlove na ure</a:t>
            </a:r>
            <a:r>
              <a:rPr lang="en-US" altLang="en-US"/>
              <a:t>đ</a:t>
            </a:r>
            <a:r>
              <a:rPr lang="en-US" altLang="en-US"/>
              <a:t>aj</a:t>
            </a:r>
            <a:endParaRPr lang="en-US" altLang="en-US"/>
          </a:p>
          <a:p>
            <a:r>
              <a:rPr lang="en-US" altLang="en-US"/>
              <a:t>Kopira fajlove sa ure</a:t>
            </a:r>
            <a:r>
              <a:rPr lang="en-US" altLang="en-US"/>
              <a:t>đ</a:t>
            </a:r>
            <a:r>
              <a:rPr lang="en-US" altLang="en-US"/>
              <a:t>aja</a:t>
            </a:r>
            <a:endParaRPr lang="en-US" altLang="en-US"/>
          </a:p>
          <a:p>
            <a:r>
              <a:rPr lang="en-US" altLang="en-US"/>
              <a:t>Vr</a:t>
            </a:r>
            <a:r>
              <a:rPr lang="en-US" altLang="en-US"/>
              <a:t>š</a:t>
            </a:r>
            <a:r>
              <a:rPr lang="en-US" altLang="en-US"/>
              <a:t>i analizu performansi ure</a:t>
            </a:r>
            <a:r>
              <a:rPr lang="en-US" altLang="en-US"/>
              <a:t>đ</a:t>
            </a:r>
            <a:r>
              <a:rPr lang="en-US" altLang="en-US"/>
              <a:t>aja</a:t>
            </a:r>
            <a:endParaRPr lang="en-US" altLang="en-US"/>
          </a:p>
          <a:p>
            <a:r>
              <a:rPr lang="en-US" altLang="en-US"/>
              <a:t>Izvr</a:t>
            </a:r>
            <a:r>
              <a:rPr lang="en-US" altLang="en-US"/>
              <a:t>š</a:t>
            </a:r>
            <a:r>
              <a:rPr lang="en-US" altLang="en-US"/>
              <a:t>avanje kriti</a:t>
            </a:r>
            <a:r>
              <a:rPr lang="en-US" altLang="en-US"/>
              <a:t>č</a:t>
            </a:r>
            <a:r>
              <a:rPr lang="en-US" altLang="en-US"/>
              <a:t>nih komandi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81915"/>
            <a:ext cx="10515600" cy="1325563"/>
          </a:xfrm>
        </p:spPr>
        <p:txBody>
          <a:bodyPr/>
          <a:p>
            <a:r>
              <a:rPr lang="en-US" altLang="en-US" sz="4000"/>
              <a:t>Secure USB Debugging</a:t>
            </a:r>
            <a:endParaRPr lang="en-US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675" y="1129030"/>
            <a:ext cx="10652125" cy="4599305"/>
          </a:xfrm>
        </p:spPr>
        <p:txBody>
          <a:bodyPr>
            <a:noAutofit/>
          </a:bodyPr>
          <a:p>
            <a:r>
              <a:rPr lang="sr-Latn-ME" altLang="en-US" sz="2400"/>
              <a:t>S</a:t>
            </a:r>
            <a:r>
              <a:rPr lang="en-US" altLang="en-US" sz="2400"/>
              <a:t>amo autorizovani ra</a:t>
            </a:r>
            <a:r>
              <a:rPr lang="en-US" altLang="en-US" sz="2400"/>
              <a:t>č</a:t>
            </a:r>
            <a:r>
              <a:rPr lang="en-US" altLang="en-US" sz="2400"/>
              <a:t>unari mogu uspostaviti ADB konekciju sa ure</a:t>
            </a:r>
            <a:r>
              <a:rPr lang="en-US" altLang="en-US" sz="2400"/>
              <a:t>đ</a:t>
            </a:r>
            <a:r>
              <a:rPr lang="en-US" altLang="en-US" sz="2400"/>
              <a:t>ajem</a:t>
            </a:r>
            <a:r>
              <a:rPr lang="sr-Latn-ME" altLang="en-US" sz="2400"/>
              <a:t>.</a:t>
            </a:r>
            <a:endParaRPr lang="sr-Latn-ME" altLang="en-US" sz="2400"/>
          </a:p>
          <a:p>
            <a:r>
              <a:rPr lang="en-US" altLang="en-US" sz="2400"/>
              <a:t>Ako se ure</a:t>
            </a:r>
            <a:r>
              <a:rPr lang="en-US" altLang="en-US" sz="2400"/>
              <a:t>đ</a:t>
            </a:r>
            <a:r>
              <a:rPr lang="en-US" altLang="en-US" sz="2400"/>
              <a:t>aj pomocu USB-a pove</a:t>
            </a:r>
            <a:r>
              <a:rPr lang="en-US" altLang="en-US" sz="2400"/>
              <a:t>ž</a:t>
            </a:r>
            <a:r>
              <a:rPr lang="en-US" altLang="en-US" sz="2400"/>
              <a:t>e sa neautorizovanim ra</a:t>
            </a:r>
            <a:r>
              <a:rPr lang="en-US" altLang="en-US" sz="2400"/>
              <a:t>č</a:t>
            </a:r>
            <a:r>
              <a:rPr lang="en-US" altLang="en-US" sz="2400"/>
              <a:t>unarom, taj ra</a:t>
            </a:r>
            <a:r>
              <a:rPr lang="en-US" altLang="en-US" sz="2400"/>
              <a:t>č</a:t>
            </a:r>
            <a:r>
              <a:rPr lang="en-US" altLang="en-US" sz="2400"/>
              <a:t>unar ne mo</a:t>
            </a:r>
            <a:r>
              <a:rPr lang="en-US" altLang="en-US" sz="2400"/>
              <a:t>ž</a:t>
            </a:r>
            <a:r>
              <a:rPr lang="en-US" altLang="en-US" sz="2400"/>
              <a:t>e videti fajlove</a:t>
            </a:r>
            <a:r>
              <a:rPr lang="sr-Latn-ME" altLang="en-US" sz="2400"/>
              <a:t> na uređaju.</a:t>
            </a:r>
            <a:endParaRPr lang="sr-Latn-ME" altLang="en-US" sz="2400"/>
          </a:p>
          <a:p>
            <a:endParaRPr lang="sr-Latn-ME" altLang="en-US" sz="2400"/>
          </a:p>
          <a:p>
            <a:pPr marL="0" indent="0">
              <a:buNone/>
            </a:pPr>
            <a:endParaRPr lang="sr-Latn-ME" altLang="en-US" sz="2400"/>
          </a:p>
          <a:p>
            <a:endParaRPr lang="sr-Latn-ME" altLang="en-US" sz="2400"/>
          </a:p>
          <a:p>
            <a:endParaRPr lang="sr-Latn-ME" altLang="en-US" sz="2400"/>
          </a:p>
          <a:p>
            <a:r>
              <a:rPr lang="en-US" altLang="en-US" sz="2400"/>
              <a:t>Za implementaciju sigurne autentifikacije procesa u USB Debugging koristi se </a:t>
            </a:r>
            <a:r>
              <a:rPr lang="en-US" altLang="en-US" sz="2400">
                <a:solidFill>
                  <a:srgbClr val="FF0000"/>
                </a:solidFill>
              </a:rPr>
              <a:t>2048-bitna RSA enkripcija</a:t>
            </a:r>
            <a:r>
              <a:rPr lang="sr-Latn-ME" altLang="en-US" sz="2400"/>
              <a:t>.</a:t>
            </a:r>
            <a:endParaRPr lang="sr-Latn-ME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475" y="2094230"/>
            <a:ext cx="2018030" cy="16871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535" y="4777740"/>
            <a:ext cx="5974715" cy="1816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000"/>
              <a:t>Ograni</a:t>
            </a:r>
            <a:r>
              <a:rPr lang="en-US" altLang="en-US" sz="4000"/>
              <a:t>č</a:t>
            </a:r>
            <a:r>
              <a:rPr lang="en-US" altLang="en-US" sz="4000"/>
              <a:t>enja </a:t>
            </a:r>
            <a:r>
              <a:rPr lang="en-US" altLang="en-US"/>
              <a:t>ADB alata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Nedostupnost pristupa nedodeljenom prostoru memorije</a:t>
            </a:r>
            <a:endParaRPr lang="en-US" altLang="en-US"/>
          </a:p>
          <a:p>
            <a:r>
              <a:rPr lang="en-US" altLang="en-US"/>
              <a:t>Obrisane fajlove je nemogu</a:t>
            </a:r>
            <a:r>
              <a:rPr lang="en-US" altLang="en-US"/>
              <a:t>ć</a:t>
            </a:r>
            <a:r>
              <a:rPr lang="en-US" altLang="en-US"/>
              <a:t>e povratiti </a:t>
            </a:r>
            <a:endParaRPr lang="en-US" altLang="en-US"/>
          </a:p>
          <a:p>
            <a:r>
              <a:rPr lang="en-US" altLang="en-US"/>
              <a:t>Ograni</a:t>
            </a:r>
            <a:r>
              <a:rPr lang="en-US" altLang="en-US"/>
              <a:t>č</a:t>
            </a:r>
            <a:r>
              <a:rPr lang="en-US" altLang="en-US"/>
              <a:t>en pristup za</a:t>
            </a:r>
            <a:r>
              <a:rPr lang="en-US" altLang="en-US"/>
              <a:t>š</a:t>
            </a:r>
            <a:r>
              <a:rPr lang="en-US" altLang="en-US"/>
              <a:t>ti</a:t>
            </a:r>
            <a:r>
              <a:rPr lang="en-US" altLang="en-US"/>
              <a:t>ć</a:t>
            </a:r>
            <a:r>
              <a:rPr lang="en-US" altLang="en-US"/>
              <a:t>enim particijama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000"/>
              <a:t>Root pristup i njegove posledice</a:t>
            </a:r>
            <a:endParaRPr lang="en-US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txBody>
          <a:bodyPr>
            <a:noAutofit/>
          </a:bodyPr>
          <a:p>
            <a:r>
              <a:rPr lang="en-US" altLang="en-US"/>
              <a:t>Korisnik sa root pristupom ima potpunu kontrolu nad svim datotekama, servisima, procesima i pode</a:t>
            </a:r>
            <a:r>
              <a:rPr lang="en-US" altLang="en-US"/>
              <a:t>š</a:t>
            </a:r>
            <a:r>
              <a:rPr lang="en-US" altLang="en-US"/>
              <a:t>avanjima ure</a:t>
            </a:r>
            <a:r>
              <a:rPr lang="en-US" altLang="en-US"/>
              <a:t>đ</a:t>
            </a:r>
            <a:r>
              <a:rPr lang="en-US" altLang="en-US"/>
              <a:t>aja</a:t>
            </a:r>
            <a:r>
              <a:rPr lang="sr-Latn-ME" altLang="en-US"/>
              <a:t>. </a:t>
            </a:r>
            <a:endParaRPr lang="sr-Latn-ME" altLang="en-US"/>
          </a:p>
          <a:p>
            <a:pPr marL="0" indent="0">
              <a:buNone/>
            </a:pPr>
            <a:r>
              <a:rPr lang="sr-Latn-ME" altLang="en-US">
                <a:solidFill>
                  <a:schemeClr val="tx1"/>
                </a:solidFill>
              </a:rPr>
              <a:t>Kor</a:t>
            </a:r>
            <a:r>
              <a:rPr lang="en-US" altLang="en-US">
                <a:solidFill>
                  <a:schemeClr val="tx1"/>
                </a:solidFill>
              </a:rPr>
              <a:t>isnik</a:t>
            </a:r>
            <a:r>
              <a:rPr lang="sr-Latn-ME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sa root pristupom sistemu mo</a:t>
            </a:r>
            <a:r>
              <a:rPr lang="en-US" altLang="en-US">
                <a:solidFill>
                  <a:schemeClr val="tx1"/>
                </a:solidFill>
              </a:rPr>
              <a:t>ž</a:t>
            </a:r>
            <a:r>
              <a:rPr lang="en-US" altLang="en-US">
                <a:solidFill>
                  <a:schemeClr val="tx1"/>
                </a:solidFill>
              </a:rPr>
              <a:t>e da: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Menja sistemske particije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Pokre</a:t>
            </a:r>
            <a:r>
              <a:rPr lang="en-US" altLang="en-US">
                <a:solidFill>
                  <a:schemeClr val="tx1"/>
                </a:solidFill>
              </a:rPr>
              <a:t>ć</a:t>
            </a:r>
            <a:r>
              <a:rPr lang="en-US" altLang="en-US">
                <a:solidFill>
                  <a:schemeClr val="tx1"/>
                </a:solidFill>
              </a:rPr>
              <a:t>e dodatne servise koji menjaju logove ure</a:t>
            </a:r>
            <a:r>
              <a:rPr lang="en-US" altLang="en-US">
                <a:solidFill>
                  <a:schemeClr val="tx1"/>
                </a:solidFill>
              </a:rPr>
              <a:t>đ</a:t>
            </a:r>
            <a:r>
              <a:rPr lang="en-US" altLang="en-US">
                <a:solidFill>
                  <a:schemeClr val="tx1"/>
                </a:solidFill>
              </a:rPr>
              <a:t>aja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Menja vreme pristupa fajlovima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Prikrije tragove malvera i da mu jo</a:t>
            </a:r>
            <a:r>
              <a:rPr lang="en-US" altLang="en-US">
                <a:solidFill>
                  <a:schemeClr val="tx1"/>
                </a:solidFill>
              </a:rPr>
              <a:t>š</a:t>
            </a:r>
            <a:r>
              <a:rPr lang="en-US" altLang="en-US">
                <a:solidFill>
                  <a:schemeClr val="tx1"/>
                </a:solidFill>
              </a:rPr>
              <a:t> ve</a:t>
            </a:r>
            <a:r>
              <a:rPr lang="en-US" altLang="en-US">
                <a:solidFill>
                  <a:schemeClr val="tx1"/>
                </a:solidFill>
              </a:rPr>
              <a:t>ć</a:t>
            </a:r>
            <a:r>
              <a:rPr lang="en-US" altLang="en-US">
                <a:solidFill>
                  <a:schemeClr val="tx1"/>
                </a:solidFill>
              </a:rPr>
              <a:t>e privilegije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sr-Latn-ME" altLang="en-US">
                <a:solidFill>
                  <a:srgbClr val="FF0000"/>
                </a:solidFill>
              </a:rPr>
              <a:t>P</a:t>
            </a:r>
            <a:r>
              <a:rPr lang="en-US" altLang="en-US">
                <a:solidFill>
                  <a:srgbClr val="FF0000"/>
                </a:solidFill>
              </a:rPr>
              <a:t>odaci sa ure</a:t>
            </a:r>
            <a:r>
              <a:rPr lang="en-US" altLang="en-US">
                <a:solidFill>
                  <a:srgbClr val="FF0000"/>
                </a:solidFill>
              </a:rPr>
              <a:t>đaja</a:t>
            </a:r>
            <a:r>
              <a:rPr lang="sr-Latn-ME" altLang="en-US">
                <a:solidFill>
                  <a:srgbClr val="FF0000"/>
                </a:solidFill>
              </a:rPr>
              <a:t> </a:t>
            </a:r>
            <a:r>
              <a:rPr lang="en-US" altLang="sr-Latn-ME">
                <a:solidFill>
                  <a:srgbClr val="FF0000"/>
                </a:solidFill>
              </a:rPr>
              <a:t>sa root pristupom </a:t>
            </a:r>
            <a:r>
              <a:rPr lang="sr-Latn-ME" altLang="en-US">
                <a:solidFill>
                  <a:srgbClr val="FF0000"/>
                </a:solidFill>
              </a:rPr>
              <a:t>se</a:t>
            </a:r>
            <a:r>
              <a:rPr lang="en-US" altLang="en-US">
                <a:solidFill>
                  <a:srgbClr val="FF0000"/>
                </a:solidFill>
              </a:rPr>
              <a:t> smatraju </a:t>
            </a:r>
            <a:r>
              <a:rPr lang="sr-Latn-ME" altLang="en-US">
                <a:solidFill>
                  <a:srgbClr val="FF0000"/>
                </a:solidFill>
              </a:rPr>
              <a:t>ne</a:t>
            </a:r>
            <a:r>
              <a:rPr lang="en-US" altLang="en-US">
                <a:solidFill>
                  <a:srgbClr val="FF0000"/>
                </a:solidFill>
              </a:rPr>
              <a:t>pouzdanim</a:t>
            </a:r>
            <a:r>
              <a:rPr lang="sr-Latn-ME" altLang="en-US">
                <a:solidFill>
                  <a:srgbClr val="FF0000"/>
                </a:solidFill>
              </a:rPr>
              <a:t>.</a:t>
            </a:r>
            <a:endParaRPr lang="sr-Latn-ME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Zaklju</a:t>
            </a:r>
            <a:r>
              <a:rPr lang="en-US" altLang="en-US"/>
              <a:t>č</a:t>
            </a:r>
            <a:r>
              <a:rPr lang="en-US" altLang="en-US"/>
              <a:t>ani </a:t>
            </a:r>
            <a:r>
              <a:rPr lang="en-US" altLang="en-US" sz="4000"/>
              <a:t>i </a:t>
            </a:r>
            <a:r>
              <a:rPr lang="en-US" altLang="en-US"/>
              <a:t>otklju</a:t>
            </a:r>
            <a:r>
              <a:rPr lang="en-US" altLang="en-US"/>
              <a:t>č</a:t>
            </a:r>
            <a:r>
              <a:rPr lang="en-US" altLang="en-US"/>
              <a:t>ani bootloader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rgbClr val="FF0000"/>
                </a:solidFill>
              </a:rPr>
              <a:t>Bootloader</a:t>
            </a:r>
            <a:r>
              <a:rPr lang="en-US" altLang="en-US"/>
              <a:t> je program koji pokre</a:t>
            </a:r>
            <a:r>
              <a:rPr lang="en-US" altLang="en-US"/>
              <a:t>ć</a:t>
            </a:r>
            <a:r>
              <a:rPr lang="en-US" altLang="en-US"/>
              <a:t>e Android sistem.</a:t>
            </a:r>
            <a:endParaRPr lang="en-US" altLang="en-US"/>
          </a:p>
          <a:p>
            <a:r>
              <a:rPr lang="en-US" altLang="en-US">
                <a:solidFill>
                  <a:schemeClr val="tx1"/>
                </a:solidFill>
              </a:rPr>
              <a:t>Zaklju</a:t>
            </a:r>
            <a:r>
              <a:rPr lang="en-US" altLang="en-US">
                <a:solidFill>
                  <a:schemeClr val="tx1"/>
                </a:solidFill>
              </a:rPr>
              <a:t>č</a:t>
            </a:r>
            <a:r>
              <a:rPr lang="en-US" altLang="en-US">
                <a:solidFill>
                  <a:schemeClr val="tx1"/>
                </a:solidFill>
              </a:rPr>
              <a:t>ani bootloader</a:t>
            </a:r>
            <a:r>
              <a:rPr lang="en-US" altLang="en-US"/>
              <a:t> spre</a:t>
            </a:r>
            <a:r>
              <a:rPr lang="en-US" altLang="en-US"/>
              <a:t>č</a:t>
            </a:r>
            <a:r>
              <a:rPr lang="en-US" altLang="en-US"/>
              <a:t>ava modifikaciju sistemskih paritcija </a:t>
            </a:r>
            <a:r>
              <a:rPr lang="en-US" altLang="en-US"/>
              <a:t>č</a:t>
            </a:r>
            <a:r>
              <a:rPr lang="en-US" altLang="en-US"/>
              <a:t>ime se garantuje integritet sistema i podataka u njemu. </a:t>
            </a:r>
            <a:endParaRPr lang="en-US" altLang="en-US"/>
          </a:p>
          <a:p>
            <a:r>
              <a:rPr lang="en-US" altLang="en-US"/>
              <a:t>Otklju</a:t>
            </a:r>
            <a:r>
              <a:rPr lang="en-US" altLang="en-US"/>
              <a:t>č</a:t>
            </a:r>
            <a:r>
              <a:rPr lang="en-US" altLang="en-US"/>
              <a:t>ani bootloader </a:t>
            </a:r>
            <a:r>
              <a:rPr lang="sr-Latn-ME"/>
              <a:t>o</a:t>
            </a:r>
            <a:r>
              <a:rPr lang="en-US" altLang="en-US"/>
              <a:t>mogu</a:t>
            </a:r>
            <a:r>
              <a:rPr lang="en-US" altLang="en-US"/>
              <a:t>ć</a:t>
            </a:r>
            <a:r>
              <a:rPr lang="en-US" altLang="en-US"/>
              <a:t>ava instaliranje root alata, menjanje procesa verifikovanog podizanja sistema(Verified Boot) i naru</a:t>
            </a:r>
            <a:r>
              <a:rPr lang="en-US" altLang="en-US"/>
              <a:t>š</a:t>
            </a:r>
            <a:r>
              <a:rPr lang="en-US" altLang="en-US"/>
              <a:t>ava integritet podataka u sistemu.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10" y="0"/>
            <a:ext cx="10515600" cy="1325563"/>
          </a:xfrm>
        </p:spPr>
        <p:txBody>
          <a:bodyPr/>
          <a:p>
            <a:pPr algn="ctr"/>
            <a:r>
              <a:rPr lang="en-US" altLang="en-US" sz="4000"/>
              <a:t>Primena ADB-a u digitalnoj forenzici</a:t>
            </a:r>
            <a:endParaRPr lang="en-US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730" y="1187450"/>
            <a:ext cx="11832590" cy="4989830"/>
          </a:xfrm>
        </p:spPr>
        <p:txBody>
          <a:bodyPr/>
          <a:p>
            <a:pPr marL="0" indent="0" algn="ctr">
              <a:buNone/>
            </a:pPr>
            <a:r>
              <a:rPr lang="en-US" altLang="en-US" sz="3200">
                <a:solidFill>
                  <a:srgbClr val="FF0000"/>
                </a:solidFill>
              </a:rPr>
              <a:t>Prikupljanje podatak</a:t>
            </a:r>
            <a:r>
              <a:rPr lang="sr-Latn-ME" altLang="en-US" sz="3200">
                <a:solidFill>
                  <a:srgbClr val="FF0000"/>
                </a:solidFill>
              </a:rPr>
              <a:t>a</a:t>
            </a:r>
            <a:endParaRPr lang="sr-Latn-ME" altLang="en-US" sz="320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sr-Latn-ME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sr-Latn-ME" altLang="en-US">
                <a:solidFill>
                  <a:schemeClr val="tx1"/>
                </a:solidFill>
              </a:rPr>
              <a:t>K</a:t>
            </a:r>
            <a:r>
              <a:rPr lang="en-US" altLang="en-US">
                <a:solidFill>
                  <a:schemeClr val="tx1"/>
                </a:solidFill>
              </a:rPr>
              <a:t>omandom </a:t>
            </a:r>
            <a:r>
              <a:rPr lang="sr-Latn-ME" altLang="en-US" i="1">
                <a:solidFill>
                  <a:schemeClr val="tx1"/>
                </a:solidFill>
              </a:rPr>
              <a:t>adb </a:t>
            </a:r>
            <a:r>
              <a:rPr lang="sr-Latn-ME" altLang="en-US" i="1">
                <a:solidFill>
                  <a:schemeClr val="tx1"/>
                </a:solidFill>
              </a:rPr>
              <a:t>pull </a:t>
            </a:r>
            <a:r>
              <a:rPr lang="en-US" altLang="en-US">
                <a:solidFill>
                  <a:schemeClr val="tx1"/>
                </a:solidFill>
              </a:rPr>
              <a:t>se pristupa sadr</a:t>
            </a:r>
            <a:r>
              <a:rPr lang="en-US" altLang="en-US">
                <a:solidFill>
                  <a:schemeClr val="tx1"/>
                </a:solidFill>
              </a:rPr>
              <a:t>ž</a:t>
            </a:r>
            <a:r>
              <a:rPr lang="en-US" altLang="en-US">
                <a:solidFill>
                  <a:schemeClr val="tx1"/>
                </a:solidFill>
              </a:rPr>
              <a:t>aju koji se nalazi na navedenoj putanji</a:t>
            </a:r>
            <a:r>
              <a:rPr lang="sr-Latn-ME" altLang="en-US">
                <a:solidFill>
                  <a:schemeClr val="tx1"/>
                </a:solidFill>
              </a:rPr>
              <a:t>.</a:t>
            </a:r>
            <a:r>
              <a:rPr lang="en-US" altLang="en-US">
                <a:solidFill>
                  <a:schemeClr val="tx1"/>
                </a:solidFill>
              </a:rPr>
              <a:t> 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sr-Latn-ME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sr-Latn-ME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sr-Latn-ME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sr-Latn-ME" altLang="en-US">
                <a:solidFill>
                  <a:schemeClr val="tx1"/>
                </a:solidFill>
              </a:rPr>
              <a:t>Komandom </a:t>
            </a:r>
            <a:r>
              <a:rPr lang="en-US" altLang="en-US" i="1">
                <a:solidFill>
                  <a:schemeClr val="tx1"/>
                </a:solidFill>
              </a:rPr>
              <a:t>adb backup [BackupOpcija] -f &lt;putanja_do_fajla.ab&gt; [paket_ili_aplikacije]</a:t>
            </a:r>
            <a:r>
              <a:rPr lang="sr-Latn-ME" altLang="en-US">
                <a:solidFill>
                  <a:schemeClr val="tx1"/>
                </a:solidFill>
              </a:rPr>
              <a:t> se kreira backup podataka sa telefona.</a:t>
            </a:r>
            <a:endParaRPr lang="sr-Latn-ME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sr-Latn-ME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sr-Latn-ME" altLang="en-US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55" y="3014345"/>
            <a:ext cx="10346690" cy="829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55" y="5386705"/>
            <a:ext cx="10346690" cy="103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2105"/>
            <a:ext cx="10515600" cy="5845175"/>
          </a:xfrm>
        </p:spPr>
        <p:txBody>
          <a:bodyPr/>
          <a:p>
            <a:r>
              <a:rPr lang="en-US" altLang="en-US"/>
              <a:t>Komandom </a:t>
            </a:r>
            <a:r>
              <a:rPr lang="en-US" altLang="en-US" i="1"/>
              <a:t>adb shell ls /putanjaDoFoldera</a:t>
            </a:r>
            <a:r>
              <a:rPr lang="en-US" altLang="en-US"/>
              <a:t> se izlistava celokupni sadr</a:t>
            </a:r>
            <a:r>
              <a:rPr lang="en-US" altLang="en-US"/>
              <a:t>ž</a:t>
            </a:r>
            <a:r>
              <a:rPr lang="en-US" altLang="en-US"/>
              <a:t>aj tog foldera: 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480" y="1317625"/>
            <a:ext cx="3608070" cy="407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0990"/>
            <a:ext cx="10515600" cy="5876290"/>
          </a:xfrm>
        </p:spPr>
        <p:txBody>
          <a:bodyPr/>
          <a:p>
            <a:pPr marL="0" indent="0" algn="ctr">
              <a:buNone/>
            </a:pPr>
            <a:r>
              <a:rPr lang="en-US" altLang="en-US" sz="3200">
                <a:solidFill>
                  <a:srgbClr val="FF0000"/>
                </a:solidFill>
              </a:rPr>
              <a:t>Pregled i analiza aplikacija </a:t>
            </a:r>
            <a:endParaRPr lang="en-US" altLang="en-US" sz="3200">
              <a:solidFill>
                <a:srgbClr val="FF0000"/>
              </a:solidFill>
            </a:endParaRPr>
          </a:p>
          <a:p>
            <a:pPr marL="0" indent="0" algn="l">
              <a:buNone/>
            </a:pPr>
            <a:r>
              <a:rPr lang="en-US" altLang="en-US" sz="2400">
                <a:solidFill>
                  <a:schemeClr val="tx1"/>
                </a:solidFill>
              </a:rPr>
              <a:t>Komandom </a:t>
            </a:r>
            <a:r>
              <a:rPr lang="en-US" altLang="en-US" sz="2400" i="1">
                <a:solidFill>
                  <a:schemeClr val="tx1"/>
                </a:solidFill>
              </a:rPr>
              <a:t>adb shell pm list packages -f </a:t>
            </a:r>
            <a:r>
              <a:rPr lang="en-US" altLang="en-US" sz="2400">
                <a:solidFill>
                  <a:schemeClr val="tx1"/>
                </a:solidFill>
              </a:rPr>
              <a:t>se dobija lista svih instaliranih aplikacija uklju</a:t>
            </a:r>
            <a:r>
              <a:rPr lang="en-US" altLang="en-US" sz="2400">
                <a:solidFill>
                  <a:schemeClr val="tx1"/>
                </a:solidFill>
              </a:rPr>
              <a:t>č</a:t>
            </a:r>
            <a:r>
              <a:rPr lang="en-US" altLang="en-US" sz="2400">
                <a:solidFill>
                  <a:schemeClr val="tx1"/>
                </a:solidFill>
              </a:rPr>
              <a:t>uju</a:t>
            </a:r>
            <a:r>
              <a:rPr lang="en-US" altLang="en-US" sz="2400">
                <a:solidFill>
                  <a:schemeClr val="tx1"/>
                </a:solidFill>
              </a:rPr>
              <a:t>ć</a:t>
            </a:r>
            <a:r>
              <a:rPr lang="en-US" altLang="en-US" sz="2400">
                <a:solidFill>
                  <a:schemeClr val="tx1"/>
                </a:solidFill>
              </a:rPr>
              <a:t>i i skrivene i sistemske aplikacije.</a:t>
            </a: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altLang="en-US" sz="2400">
                <a:solidFill>
                  <a:schemeClr val="tx1"/>
                </a:solidFill>
              </a:rPr>
              <a:t>Komandom pull nad putanjom do aplikacije se preuzimaju instalirani paketi te aplikacije koji kasnije mogu da se analiziraji:</a:t>
            </a:r>
            <a:endParaRPr lang="en-US" altLang="en-US" sz="2400">
              <a:solidFill>
                <a:schemeClr val="tx1"/>
              </a:solidFill>
            </a:endParaRP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110" y="1673860"/>
            <a:ext cx="4871720" cy="250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5713730"/>
            <a:ext cx="8308340" cy="46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29260"/>
            <a:ext cx="10515600" cy="5748020"/>
          </a:xfrm>
        </p:spPr>
        <p:txBody>
          <a:bodyPr>
            <a:normAutofit/>
          </a:bodyPr>
          <a:p>
            <a:pPr marL="0" indent="0" algn="ctr">
              <a:buNone/>
            </a:pPr>
            <a:r>
              <a:rPr lang="en-US" sz="320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en-US" sz="3200">
                <a:solidFill>
                  <a:srgbClr val="FF0000"/>
                </a:solidFill>
                <a:sym typeface="+mn-ea"/>
              </a:rPr>
              <a:t>Prikupljanje sistemskih informacija i metapodataka</a:t>
            </a:r>
            <a:endParaRPr lang="en-US" altLang="en-US" sz="320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altLang="en-US" sz="2400">
              <a:solidFill>
                <a:srgbClr val="FF0000"/>
              </a:solidFill>
            </a:endParaRPr>
          </a:p>
          <a:p>
            <a:pPr algn="l"/>
            <a:r>
              <a:rPr lang="en-US" altLang="en-US" sz="2400">
                <a:solidFill>
                  <a:schemeClr val="tx1"/>
                </a:solidFill>
              </a:rPr>
              <a:t>Komanda </a:t>
            </a:r>
            <a:r>
              <a:rPr lang="en-US" altLang="en-US" sz="2400" i="1">
                <a:solidFill>
                  <a:schemeClr val="tx1"/>
                </a:solidFill>
              </a:rPr>
              <a:t>adb shell getprop</a:t>
            </a:r>
            <a:r>
              <a:rPr lang="en-US" altLang="en-US" sz="2400">
                <a:solidFill>
                  <a:schemeClr val="tx1"/>
                </a:solidFill>
              </a:rPr>
              <a:t> prikazuje sistemska svojstva Android ure</a:t>
            </a:r>
            <a:r>
              <a:rPr lang="en-US" altLang="en-US" sz="2400">
                <a:solidFill>
                  <a:schemeClr val="tx1"/>
                </a:solidFill>
              </a:rPr>
              <a:t>đ</a:t>
            </a:r>
            <a:r>
              <a:rPr lang="en-US" altLang="en-US" sz="2400">
                <a:solidFill>
                  <a:schemeClr val="tx1"/>
                </a:solidFill>
              </a:rPr>
              <a:t>aja.</a:t>
            </a: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>
              <a:solidFill>
                <a:srgbClr val="FF0000"/>
              </a:solidFill>
            </a:endParaRPr>
          </a:p>
          <a:p>
            <a:pPr marL="0" indent="0" algn="l">
              <a:buNone/>
            </a:pPr>
            <a:r>
              <a:rPr lang="en-US" altLang="en-US" sz="2400">
                <a:solidFill>
                  <a:schemeClr val="tx1"/>
                </a:solidFill>
              </a:rPr>
              <a:t>Android verzija:</a:t>
            </a: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altLang="en-US" sz="2400">
                <a:solidFill>
                  <a:schemeClr val="tx1"/>
                </a:solidFill>
              </a:rPr>
              <a:t>Sigurnosna patch verzija:</a:t>
            </a: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altLang="en-US" sz="2400">
                <a:solidFill>
                  <a:schemeClr val="tx1"/>
                </a:solidFill>
              </a:rPr>
              <a:t>Model ure</a:t>
            </a:r>
            <a:r>
              <a:rPr lang="en-US" altLang="en-US" sz="2400">
                <a:solidFill>
                  <a:schemeClr val="tx1"/>
                </a:solidFill>
              </a:rPr>
              <a:t>đ</a:t>
            </a:r>
            <a:r>
              <a:rPr lang="en-US" altLang="en-US" sz="2400">
                <a:solidFill>
                  <a:schemeClr val="tx1"/>
                </a:solidFill>
              </a:rPr>
              <a:t>aja:</a:t>
            </a:r>
            <a:endParaRPr lang="en-US" altLang="en-US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altLang="en-US">
              <a:solidFill>
                <a:srgbClr val="FF0000"/>
              </a:solidFill>
            </a:endParaRPr>
          </a:p>
          <a:p>
            <a:pPr marL="0" indent="0" algn="l">
              <a:buNone/>
            </a:pPr>
            <a:endParaRPr lang="en-US" altLang="en-US">
              <a:solidFill>
                <a:srgbClr val="FF0000"/>
              </a:solidFill>
            </a:endParaRPr>
          </a:p>
          <a:p>
            <a:pPr marL="0" indent="0" algn="l">
              <a:buNone/>
            </a:pPr>
            <a:endParaRPr lang="en-US" altLang="en-US">
              <a:solidFill>
                <a:srgbClr val="FF0000"/>
              </a:solidFill>
            </a:endParaRPr>
          </a:p>
        </p:txBody>
      </p:sp>
      <p:pic>
        <p:nvPicPr>
          <p:cNvPr id="18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865" y="4261485"/>
            <a:ext cx="4476750" cy="33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865" y="2882900"/>
            <a:ext cx="5718810" cy="504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865" y="5071110"/>
            <a:ext cx="3683000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905" y="404495"/>
            <a:ext cx="11064240" cy="5772785"/>
          </a:xfrm>
        </p:spPr>
        <p:txBody>
          <a:bodyPr/>
          <a:p>
            <a:pPr marL="0" indent="0">
              <a:buNone/>
            </a:pPr>
            <a:r>
              <a:rPr lang="en-US" altLang="en-US" sz="2400"/>
              <a:t>Komanda </a:t>
            </a:r>
            <a:r>
              <a:rPr lang="en-US" altLang="en-US" sz="2400" i="1"/>
              <a:t>adb shell cat /proc/cpuinfo</a:t>
            </a:r>
            <a:r>
              <a:rPr lang="en-US" altLang="en-US" sz="2400"/>
              <a:t> prikazuje informacije o procesoru kao </a:t>
            </a:r>
            <a:r>
              <a:rPr lang="en-US" altLang="en-US" sz="2400"/>
              <a:t>š</a:t>
            </a:r>
            <a:r>
              <a:rPr lang="en-US" altLang="en-US" sz="2400"/>
              <a:t>to su model procesora, broj jezgara tog procesora, arhitekturu procesora i serijski broj procesa.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  <p:pic>
        <p:nvPicPr>
          <p:cNvPr id="32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0050" y="1388745"/>
            <a:ext cx="4096385" cy="4839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500" y="295275"/>
            <a:ext cx="11008995" cy="5882005"/>
          </a:xfrm>
        </p:spPr>
        <p:txBody>
          <a:bodyPr/>
          <a:p>
            <a:pPr marL="0" indent="0">
              <a:buNone/>
            </a:pPr>
            <a:r>
              <a:rPr lang="en-US" altLang="en-US" sz="2400"/>
              <a:t>Komanda </a:t>
            </a:r>
            <a:r>
              <a:rPr lang="en-US" altLang="en-US" sz="2400" i="1"/>
              <a:t>adb shell cat /proc/meminfo</a:t>
            </a:r>
            <a:r>
              <a:rPr lang="en-US" altLang="en-US" sz="2400"/>
              <a:t> prikazuje detaljne informacije o RAM memoriji Android ure</a:t>
            </a:r>
            <a:r>
              <a:rPr lang="en-US" altLang="en-US" sz="2400"/>
              <a:t>đ</a:t>
            </a:r>
            <a:r>
              <a:rPr lang="en-US" altLang="en-US" sz="2400"/>
              <a:t>aja.</a:t>
            </a:r>
            <a:endParaRPr lang="en-US" altLang="en-US" sz="2400"/>
          </a:p>
        </p:txBody>
      </p:sp>
      <p:pic>
        <p:nvPicPr>
          <p:cNvPr id="33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9950" y="900430"/>
            <a:ext cx="3149600" cy="52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0665"/>
            <a:ext cx="10515600" cy="5936615"/>
          </a:xfrm>
        </p:spPr>
        <p:txBody>
          <a:bodyPr/>
          <a:p>
            <a:pPr marL="0" indent="0" algn="l">
              <a:buNone/>
            </a:pPr>
            <a:r>
              <a:rPr lang="en-US" sz="2400"/>
              <a:t>Komanda </a:t>
            </a:r>
            <a:r>
              <a:rPr lang="en-US" sz="2400" i="1"/>
              <a:t>a</a:t>
            </a:r>
            <a:r>
              <a:rPr lang="en-US" altLang="en-US" sz="2400" i="1"/>
              <a:t>db shell dumpsys</a:t>
            </a:r>
            <a:r>
              <a:rPr lang="en-US" altLang="en-US" sz="2400"/>
              <a:t> prikazuje stanje svih klju</a:t>
            </a:r>
            <a:r>
              <a:rPr lang="en-US" altLang="en-US" sz="2400"/>
              <a:t>čnih Android servisa koji trenutno rade u operativnom sistemu ure</a:t>
            </a:r>
            <a:r>
              <a:rPr lang="en-US" altLang="en-US" sz="2400"/>
              <a:t>đaja. Omogu</a:t>
            </a:r>
            <a:r>
              <a:rPr lang="en-US" altLang="en-US" sz="2400"/>
              <a:t>ćava </a:t>
            </a:r>
            <a:r>
              <a:rPr lang="en-US" altLang="en-US" sz="2400" u="sng"/>
              <a:t>uvid u trenutno stanje ure</a:t>
            </a:r>
            <a:r>
              <a:rPr lang="en-US" altLang="en-US" sz="2400" u="sng"/>
              <a:t>đaja</a:t>
            </a:r>
            <a:r>
              <a:rPr lang="en-US" altLang="en-US" sz="2400"/>
              <a:t> bez direktnog pristupa fajl sistemu.</a:t>
            </a:r>
            <a:endParaRPr lang="en-US" altLang="en-US" sz="2400"/>
          </a:p>
          <a:p>
            <a:pPr marL="0" indent="0" algn="l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Informacije o trenutnim aktivnostima: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  <p:pic>
        <p:nvPicPr>
          <p:cNvPr id="23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440" y="2291715"/>
            <a:ext cx="4860925" cy="3469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40"/>
            <a:ext cx="10515600" cy="6047740"/>
          </a:xfrm>
        </p:spPr>
        <p:txBody>
          <a:bodyPr/>
          <a:p>
            <a:pPr marL="0" indent="0">
              <a:buNone/>
            </a:pPr>
            <a:r>
              <a:rPr lang="en-US" sz="2400"/>
              <a:t>Informacije o bateriji: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Informacije o trenutno zauzetoj memoriji i softveru:</a:t>
            </a: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pic>
        <p:nvPicPr>
          <p:cNvPr id="27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557530"/>
            <a:ext cx="2789555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3282950"/>
            <a:ext cx="3442335" cy="3194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595" y="3282950"/>
            <a:ext cx="4476115" cy="3194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110" y="360045"/>
            <a:ext cx="11078845" cy="5817235"/>
          </a:xfrm>
        </p:spPr>
        <p:txBody>
          <a:bodyPr/>
          <a:p>
            <a:pPr marL="0" indent="0" algn="l">
              <a:buNone/>
            </a:pPr>
            <a:r>
              <a:rPr lang="sr-Latn-RS" altLang="en-US" sz="2400"/>
              <a:t>K</a:t>
            </a:r>
            <a:r>
              <a:rPr lang="en-US" altLang="en-US" sz="2400"/>
              <a:t>omanda </a:t>
            </a:r>
            <a:r>
              <a:rPr lang="en-US" altLang="en-US" sz="2400" i="1"/>
              <a:t>adb shell netstat</a:t>
            </a:r>
            <a:r>
              <a:rPr lang="sr-Latn-RS" altLang="en-US" sz="2400"/>
              <a:t> </a:t>
            </a:r>
            <a:r>
              <a:rPr lang="en-US" altLang="en-US" sz="2400"/>
              <a:t>prikazuje </a:t>
            </a:r>
            <a:r>
              <a:rPr lang="en-US" altLang="en-US" sz="2400" u="sng"/>
              <a:t>mre</a:t>
            </a:r>
            <a:r>
              <a:rPr lang="en-US" altLang="en-US" sz="2400" u="sng"/>
              <a:t>žne aktivnosti ure</a:t>
            </a:r>
            <a:r>
              <a:rPr lang="en-US" altLang="en-US" sz="2400" u="sng"/>
              <a:t>đaja</a:t>
            </a:r>
            <a:r>
              <a:rPr lang="en-US" altLang="en-US" sz="2400"/>
              <a:t>. Otkriva otvorene portove, aktivne mre</a:t>
            </a:r>
            <a:r>
              <a:rPr lang="en-US" altLang="en-US" sz="2400"/>
              <a:t>ž</a:t>
            </a:r>
            <a:r>
              <a:rPr lang="en-US" altLang="en-US" sz="2400"/>
              <a:t>ne konekcije i komunikaciju sa drugim serverima</a:t>
            </a:r>
            <a:r>
              <a:rPr lang="sr-Latn-RS" altLang="en-US" sz="2400"/>
              <a:t>(</a:t>
            </a:r>
            <a:r>
              <a:rPr lang="en-US" altLang="en-US" sz="2400"/>
              <a:t>aktivne TCP i UDP konekcije, portovi koji </a:t>
            </a:r>
            <a:r>
              <a:rPr lang="en-US" altLang="en-US" sz="2400"/>
              <a:t>č</a:t>
            </a:r>
            <a:r>
              <a:rPr lang="en-US" altLang="en-US" sz="2400"/>
              <a:t>ekaju dolazne konekcije, ip adrese povezanih ure</a:t>
            </a:r>
            <a:r>
              <a:rPr lang="en-US" altLang="en-US" sz="2400"/>
              <a:t>đ</a:t>
            </a:r>
            <a:r>
              <a:rPr lang="en-US" altLang="en-US" sz="2400"/>
              <a:t>aja i stanja </a:t>
            </a:r>
            <a:r>
              <a:rPr lang="sr-Latn-RS" altLang="en-US" sz="2400"/>
              <a:t>tih </a:t>
            </a:r>
            <a:r>
              <a:rPr lang="en-US" altLang="en-US" sz="2400"/>
              <a:t>konekcija</a:t>
            </a:r>
            <a:r>
              <a:rPr lang="sr-Latn-RS" altLang="en-US" sz="2400"/>
              <a:t>).</a:t>
            </a:r>
            <a:endParaRPr lang="sr-Latn-RS" altLang="en-US" sz="2400"/>
          </a:p>
          <a:p>
            <a:pPr marL="0" indent="0" algn="l">
              <a:buNone/>
            </a:pPr>
            <a:endParaRPr lang="sr-Latn-RS" altLang="en-US" sz="2400"/>
          </a:p>
        </p:txBody>
      </p:sp>
      <p:pic>
        <p:nvPicPr>
          <p:cNvPr id="34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3795" y="1950085"/>
            <a:ext cx="5346065" cy="4514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65045"/>
            <a:ext cx="10515600" cy="3912235"/>
          </a:xfrm>
        </p:spPr>
        <p:txBody>
          <a:bodyPr/>
          <a:p>
            <a:pPr marL="0" indent="0" algn="ctr">
              <a:buNone/>
            </a:pPr>
            <a:r>
              <a:rPr lang="sr-Latn-RS" altLang="en-US" sz="6000"/>
              <a:t>HVALA NA PAŽNJI</a:t>
            </a:r>
            <a:endParaRPr lang="sr-Latn-RS" altLang="en-US" sz="6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3550</Words>
  <Application>WPS Presentation</Application>
  <PresentationFormat>Widescreen</PresentationFormat>
  <Paragraphs>128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Primena ADB alata u analizi Android uređaja</vt:lpstr>
      <vt:lpstr>Android Debug Bridge (ADB)</vt:lpstr>
      <vt:lpstr>Mogućnosti ADB-a</vt:lpstr>
      <vt:lpstr>Secure USB Debugging</vt:lpstr>
      <vt:lpstr>Ograničenja ADB alata</vt:lpstr>
      <vt:lpstr>Root pristup i njegove posledice</vt:lpstr>
      <vt:lpstr>Zaključani i otključani bootloader</vt:lpstr>
      <vt:lpstr>Primena ADB-a u digitalnoj forenzici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Zeljko</cp:lastModifiedBy>
  <cp:revision>37</cp:revision>
  <dcterms:created xsi:type="dcterms:W3CDTF">2025-07-23T00:59:00Z</dcterms:created>
  <dcterms:modified xsi:type="dcterms:W3CDTF">2026-01-15T09:00:04Z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1033-12.2.0.23196</vt:lpwstr>
  </property>
</Properties>
</file>